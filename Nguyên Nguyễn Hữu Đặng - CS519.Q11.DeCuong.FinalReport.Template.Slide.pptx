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regular.fntdata"/><Relationship Id="rId14" Type="http://schemas.openxmlformats.org/officeDocument/2006/relationships/slide" Target="slides/slide10.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d8a3913ea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d8a3913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d8a3913ea_0_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d8a3913ea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62be71a6a_0_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62be71a6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62be71a6a_0_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62be71a6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62be71a6a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62be71a6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62be71a6a_0_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62be71a6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0d8a3913ea_0_1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0d8a3913e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62be71a6a_0_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62be71a6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62be71a6a_0_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62be71a6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62be71a6a_0_9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62be71a6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R01"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R01"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R01" type="tx">
  <p:cSld name="TITLE_AND_BODY">
    <p:spTree>
      <p:nvGrpSpPr>
        <p:cNvPr id="16" name="Shape 16"/>
        <p:cNvGrpSpPr/>
        <p:nvPr/>
      </p:nvGrpSpPr>
      <p:grpSpPr>
        <a:xfrm>
          <a:off x="0" y="0"/>
          <a:ext cx="0" cy="0"/>
          <a:chOff x="0" y="0"/>
          <a:chExt cx="0" cy="0"/>
        </a:xfrm>
      </p:grpSpPr>
      <p:sp>
        <p:nvSpPr>
          <p:cNvPr id="17" name="Google Shape;17;p4"/>
          <p:cNvSpPr/>
          <p:nvPr/>
        </p:nvSpPr>
        <p:spPr>
          <a:xfrm flipH="1" rot="10800000">
            <a:off x="0" y="728400"/>
            <a:ext cx="9144000" cy="40854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711888"/>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txBox="1"/>
          <p:nvPr>
            <p:ph type="title"/>
          </p:nvPr>
        </p:nvSpPr>
        <p:spPr>
          <a:xfrm>
            <a:off x="471900" y="57875"/>
            <a:ext cx="8222100" cy="6705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 name="Google Shape;20;p4"/>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lvl1pPr indent="-368300" lvl="0" marL="457200">
              <a:spcBef>
                <a:spcPts val="0"/>
              </a:spcBef>
              <a:spcAft>
                <a:spcPts val="0"/>
              </a:spcAft>
              <a:buClr>
                <a:srgbClr val="000000"/>
              </a:buClr>
              <a:buSzPts val="2200"/>
              <a:buChar char="●"/>
              <a:defRPr sz="2200">
                <a:solidFill>
                  <a:srgbClr val="000000"/>
                </a:solidFill>
              </a:defRPr>
            </a:lvl1pPr>
            <a:lvl2pPr indent="-355600" lvl="1" marL="914400">
              <a:spcBef>
                <a:spcPts val="1600"/>
              </a:spcBef>
              <a:spcAft>
                <a:spcPts val="0"/>
              </a:spcAft>
              <a:buClr>
                <a:srgbClr val="000000"/>
              </a:buClr>
              <a:buSzPts val="2000"/>
              <a:buChar char="○"/>
              <a:defRPr sz="2000">
                <a:solidFill>
                  <a:srgbClr val="000000"/>
                </a:solidFill>
              </a:defRPr>
            </a:lvl2pPr>
            <a:lvl3pPr indent="-342900" lvl="2" marL="1371600">
              <a:spcBef>
                <a:spcPts val="1600"/>
              </a:spcBef>
              <a:spcAft>
                <a:spcPts val="0"/>
              </a:spcAft>
              <a:buClr>
                <a:srgbClr val="000000"/>
              </a:buClr>
              <a:buSzPts val="1800"/>
              <a:buChar char="■"/>
              <a:defRPr sz="1800">
                <a:solidFill>
                  <a:srgbClr val="000000"/>
                </a:solidFill>
              </a:defRPr>
            </a:lvl3pPr>
            <a:lvl4pPr indent="-330200" lvl="3" marL="1828800">
              <a:spcBef>
                <a:spcPts val="1600"/>
              </a:spcBef>
              <a:spcAft>
                <a:spcPts val="0"/>
              </a:spcAft>
              <a:buClr>
                <a:srgbClr val="000000"/>
              </a:buClr>
              <a:buSzPts val="1600"/>
              <a:buChar char="●"/>
              <a:defRPr sz="1600">
                <a:solidFill>
                  <a:srgbClr val="000000"/>
                </a:solidFill>
              </a:defRPr>
            </a:lvl4pPr>
            <a:lvl5pPr indent="-317500" lvl="4" marL="2286000">
              <a:spcBef>
                <a:spcPts val="1600"/>
              </a:spcBef>
              <a:spcAft>
                <a:spcPts val="0"/>
              </a:spcAft>
              <a:buClr>
                <a:srgbClr val="000000"/>
              </a:buClr>
              <a:buSzPts val="1400"/>
              <a:buChar char="○"/>
              <a:defRPr>
                <a:solidFill>
                  <a:srgbClr val="000000"/>
                </a:solidFill>
              </a:defRPr>
            </a:lvl5pPr>
            <a:lvl6pPr indent="-317500" lvl="5" marL="2743200">
              <a:spcBef>
                <a:spcPts val="1600"/>
              </a:spcBef>
              <a:spcAft>
                <a:spcPts val="0"/>
              </a:spcAft>
              <a:buClr>
                <a:srgbClr val="000000"/>
              </a:buClr>
              <a:buSzPts val="1400"/>
              <a:buChar char="■"/>
              <a:defRPr>
                <a:solidFill>
                  <a:srgbClr val="000000"/>
                </a:solidFill>
              </a:defRPr>
            </a:lvl6pPr>
            <a:lvl7pPr indent="-317500" lvl="6" marL="3200400">
              <a:spcBef>
                <a:spcPts val="1600"/>
              </a:spcBef>
              <a:spcAft>
                <a:spcPts val="0"/>
              </a:spcAft>
              <a:buClr>
                <a:srgbClr val="000000"/>
              </a:buClr>
              <a:buSzPts val="1400"/>
              <a:buChar char="●"/>
              <a:defRPr>
                <a:solidFill>
                  <a:srgbClr val="000000"/>
                </a:solidFill>
              </a:defRPr>
            </a:lvl7pPr>
            <a:lvl8pPr indent="-317500" lvl="7" marL="3657600">
              <a:spcBef>
                <a:spcPts val="1600"/>
              </a:spcBef>
              <a:spcAft>
                <a:spcPts val="0"/>
              </a:spcAft>
              <a:buClr>
                <a:srgbClr val="000000"/>
              </a:buClr>
              <a:buSzPts val="1400"/>
              <a:buChar char="○"/>
              <a:defRPr>
                <a:solidFill>
                  <a:srgbClr val="000000"/>
                </a:solidFill>
              </a:defRPr>
            </a:lvl8pPr>
            <a:lvl9pPr indent="-317500" lvl="8" marL="4114800">
              <a:spcBef>
                <a:spcPts val="1600"/>
              </a:spcBef>
              <a:spcAft>
                <a:spcPts val="1600"/>
              </a:spcAft>
              <a:buSzPts val="1400"/>
              <a:buChar char="■"/>
              <a:defRPr/>
            </a:lvl9pPr>
          </a:lstStyle>
          <a:p/>
        </p:txBody>
      </p:sp>
      <p:sp>
        <p:nvSpPr>
          <p:cNvPr id="21" name="Google Shape;21;p4"/>
          <p:cNvSpPr txBox="1"/>
          <p:nvPr>
            <p:ph idx="12" type="sldNum"/>
          </p:nvPr>
        </p:nvSpPr>
        <p:spPr>
          <a:xfrm>
            <a:off x="8523550" y="4813799"/>
            <a:ext cx="548700" cy="275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4"/>
          <p:cNvSpPr txBox="1"/>
          <p:nvPr/>
        </p:nvSpPr>
        <p:spPr>
          <a:xfrm>
            <a:off x="471900" y="4803525"/>
            <a:ext cx="8133300" cy="296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FFFF"/>
                </a:solidFill>
                <a:latin typeface="Roboto"/>
                <a:ea typeface="Roboto"/>
                <a:cs typeface="Roboto"/>
                <a:sym typeface="Roboto"/>
              </a:rPr>
              <a:t>UIT.CS519.ResearchMethodology</a:t>
            </a:r>
            <a:endParaRPr b="1">
              <a:solidFill>
                <a:srgbClr val="FFFFFF"/>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7" name="Google Shape;27;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 name="Google Shape;34;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0" name="Google Shape;40;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3" name="Google Shape;43;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8" name="Google Shape;48;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0" name="Google Shape;50;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txBox="1"/>
          <p:nvPr>
            <p:ph idx="1" type="body"/>
          </p:nvPr>
        </p:nvSpPr>
        <p:spPr>
          <a:xfrm>
            <a:off x="57150" y="41634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5" name="Google Shape;55;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6" name="Shape 56"/>
        <p:cNvGrpSpPr/>
        <p:nvPr/>
      </p:nvGrpSpPr>
      <p:grpSpPr>
        <a:xfrm>
          <a:off x="0" y="0"/>
          <a:ext cx="0" cy="0"/>
          <a:chOff x="0" y="0"/>
          <a:chExt cx="0" cy="0"/>
        </a:xfrm>
      </p:grpSpPr>
      <p:sp>
        <p:nvSpPr>
          <p:cNvPr id="57" name="Google Shape;57;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8" name="Google Shape;58;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9" name="Google Shape;59;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0" name="Shape 60"/>
        <p:cNvGrpSpPr/>
        <p:nvPr/>
      </p:nvGrpSpPr>
      <p:grpSpPr>
        <a:xfrm>
          <a:off x="0" y="0"/>
          <a:ext cx="0" cy="0"/>
          <a:chOff x="0" y="0"/>
          <a:chExt cx="0" cy="0"/>
        </a:xfrm>
      </p:grpSpPr>
      <p:sp>
        <p:nvSpPr>
          <p:cNvPr id="61" name="Google Shape;61;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title"/>
          </p:nvPr>
        </p:nvSpPr>
        <p:spPr>
          <a:xfrm>
            <a:off x="460950" y="1019950"/>
            <a:ext cx="8222100" cy="101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PHÁT HIỆN ĐÁNH GIÁ GIẢ DỰA TRÊN MẠNG NGỮ NGHĨA TÍCH HỢP THÔNG TIN KHÍA CẢNH</a:t>
            </a:r>
            <a:endParaRPr b="1"/>
          </a:p>
        </p:txBody>
      </p:sp>
      <p:sp>
        <p:nvSpPr>
          <p:cNvPr id="67" name="Google Shape;67;p13"/>
          <p:cNvSpPr txBox="1"/>
          <p:nvPr/>
        </p:nvSpPr>
        <p:spPr>
          <a:xfrm>
            <a:off x="2011650" y="2900100"/>
            <a:ext cx="5544300" cy="1012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rgbClr val="FFFFFF"/>
                </a:solidFill>
                <a:latin typeface="Roboto"/>
                <a:ea typeface="Roboto"/>
                <a:cs typeface="Roboto"/>
                <a:sym typeface="Roboto"/>
              </a:rPr>
              <a:t>Nguyễn Hữu Đặng Nguyên - 23521045</a:t>
            </a:r>
            <a:endParaRPr b="1" sz="2400">
              <a:solidFill>
                <a:srgbClr val="FFFFFF"/>
              </a:solidFill>
              <a:latin typeface="Roboto"/>
              <a:ea typeface="Roboto"/>
              <a:cs typeface="Roboto"/>
              <a:sym typeface="Roboto"/>
            </a:endParaRPr>
          </a:p>
          <a:p>
            <a:pPr indent="0" lvl="0" marL="0" rtl="0" algn="l">
              <a:spcBef>
                <a:spcPts val="0"/>
              </a:spcBef>
              <a:spcAft>
                <a:spcPts val="0"/>
              </a:spcAft>
              <a:buNone/>
            </a:pPr>
            <a:r>
              <a:rPr b="1" lang="en" sz="2400">
                <a:solidFill>
                  <a:srgbClr val="FFFFFF"/>
                </a:solidFill>
                <a:latin typeface="Roboto"/>
                <a:ea typeface="Roboto"/>
                <a:cs typeface="Roboto"/>
                <a:sym typeface="Roboto"/>
              </a:rPr>
              <a:t>Đặng Quốc Cường - 23520192</a:t>
            </a:r>
            <a:r>
              <a:rPr b="1" lang="en" sz="4200">
                <a:solidFill>
                  <a:srgbClr val="FFFFFF"/>
                </a:solidFill>
                <a:latin typeface="Roboto"/>
                <a:ea typeface="Roboto"/>
                <a:cs typeface="Roboto"/>
                <a:sym typeface="Roboto"/>
              </a:rPr>
              <a:t> </a:t>
            </a:r>
            <a:endParaRPr b="1" sz="42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Tóm tắt </a:t>
            </a:r>
            <a:endParaRPr/>
          </a:p>
        </p:txBody>
      </p:sp>
      <p:sp>
        <p:nvSpPr>
          <p:cNvPr id="73" name="Google Shape;73;p14"/>
          <p:cNvSpPr txBox="1"/>
          <p:nvPr>
            <p:ph idx="1" type="body"/>
          </p:nvPr>
        </p:nvSpPr>
        <p:spPr>
          <a:xfrm>
            <a:off x="471900" y="686475"/>
            <a:ext cx="8531400" cy="3908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Font typeface="Arial"/>
              <a:buChar char="●"/>
            </a:pPr>
            <a:r>
              <a:rPr lang="en">
                <a:latin typeface="Arial"/>
                <a:ea typeface="Arial"/>
                <a:cs typeface="Arial"/>
                <a:sym typeface="Arial"/>
              </a:rPr>
              <a:t>Lớp: CS519.</a:t>
            </a:r>
            <a:r>
              <a:rPr lang="en">
                <a:latin typeface="Arial"/>
                <a:ea typeface="Arial"/>
                <a:cs typeface="Arial"/>
                <a:sym typeface="Arial"/>
              </a:rPr>
              <a:t>Q11.KHTN</a:t>
            </a:r>
            <a:endParaRPr>
              <a:latin typeface="Arial"/>
              <a:ea typeface="Arial"/>
              <a:cs typeface="Arial"/>
              <a:sym typeface="Arial"/>
            </a:endParaRPr>
          </a:p>
          <a:p>
            <a:pPr indent="-368300" lvl="0" marL="457200" rtl="0" algn="l">
              <a:spcBef>
                <a:spcPts val="0"/>
              </a:spcBef>
              <a:spcAft>
                <a:spcPts val="0"/>
              </a:spcAft>
              <a:buSzPts val="2200"/>
              <a:buFont typeface="Arial"/>
              <a:buChar char="●"/>
            </a:pPr>
            <a:r>
              <a:rPr lang="en">
                <a:latin typeface="Arial"/>
                <a:ea typeface="Arial"/>
                <a:cs typeface="Arial"/>
                <a:sym typeface="Arial"/>
              </a:rPr>
              <a:t>Link Github: https://github.com/TwinHter/CS519.Q11.KHTN</a:t>
            </a:r>
            <a:endParaRPr>
              <a:latin typeface="Arial"/>
              <a:ea typeface="Arial"/>
              <a:cs typeface="Arial"/>
              <a:sym typeface="Arial"/>
            </a:endParaRPr>
          </a:p>
          <a:p>
            <a:pPr indent="-368300" lvl="0" marL="457200" rtl="0" algn="l">
              <a:spcBef>
                <a:spcPts val="0"/>
              </a:spcBef>
              <a:spcAft>
                <a:spcPts val="0"/>
              </a:spcAft>
              <a:buSzPts val="2200"/>
              <a:buFont typeface="Arial"/>
              <a:buChar char="●"/>
            </a:pPr>
            <a:r>
              <a:rPr lang="en">
                <a:latin typeface="Arial"/>
                <a:ea typeface="Arial"/>
                <a:cs typeface="Arial"/>
                <a:sym typeface="Arial"/>
              </a:rPr>
              <a:t>Link YouTube video: https://youtu.be/fSn-9Ntrqjc</a:t>
            </a:r>
            <a:endParaRPr>
              <a:latin typeface="Arial"/>
              <a:ea typeface="Arial"/>
              <a:cs typeface="Arial"/>
              <a:sym typeface="Arial"/>
            </a:endParaRPr>
          </a:p>
          <a:p>
            <a:pPr indent="-368300" lvl="0" marL="457200" rtl="0" algn="l">
              <a:spcBef>
                <a:spcPts val="0"/>
              </a:spcBef>
              <a:spcAft>
                <a:spcPts val="0"/>
              </a:spcAft>
              <a:buSzPts val="2200"/>
              <a:buFont typeface="Arial"/>
              <a:buChar char="●"/>
            </a:pPr>
            <a:r>
              <a:rPr lang="en">
                <a:latin typeface="Arial"/>
                <a:ea typeface="Arial"/>
                <a:cs typeface="Arial"/>
                <a:sym typeface="Arial"/>
              </a:rPr>
              <a:t>Ảnh + Họ và Tên của các thành viên</a:t>
            </a:r>
            <a:endParaRPr>
              <a:latin typeface="Arial"/>
              <a:ea typeface="Arial"/>
              <a:cs typeface="Arial"/>
              <a:sym typeface="Arial"/>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914400" rtl="0" algn="l">
              <a:spcBef>
                <a:spcPts val="1600"/>
              </a:spcBef>
              <a:spcAft>
                <a:spcPts val="1600"/>
              </a:spcAft>
              <a:buNone/>
            </a:pPr>
            <a:r>
              <a:t/>
            </a:r>
            <a:endParaRPr sz="1800"/>
          </a:p>
        </p:txBody>
      </p:sp>
      <p:pic>
        <p:nvPicPr>
          <p:cNvPr id="74" name="Google Shape;74;p14" title="DUY_6647 copy.jpg"/>
          <p:cNvPicPr preferRelativeResize="0"/>
          <p:nvPr/>
        </p:nvPicPr>
        <p:blipFill>
          <a:blip r:embed="rId3">
            <a:alphaModFix/>
          </a:blip>
          <a:stretch>
            <a:fillRect/>
          </a:stretch>
        </p:blipFill>
        <p:spPr>
          <a:xfrm>
            <a:off x="1531475" y="2308125"/>
            <a:ext cx="1268600" cy="1900600"/>
          </a:xfrm>
          <a:prstGeom prst="rect">
            <a:avLst/>
          </a:prstGeom>
          <a:noFill/>
          <a:ln>
            <a:noFill/>
          </a:ln>
        </p:spPr>
      </p:pic>
      <p:sp>
        <p:nvSpPr>
          <p:cNvPr id="75" name="Google Shape;75;p14"/>
          <p:cNvSpPr txBox="1"/>
          <p:nvPr/>
        </p:nvSpPr>
        <p:spPr>
          <a:xfrm>
            <a:off x="379075" y="4281925"/>
            <a:ext cx="4359600" cy="3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2"/>
                </a:solidFill>
              </a:rPr>
              <a:t>Nguyễn Hữu Đặng Nguyên - 23521045</a:t>
            </a:r>
            <a:endParaRPr sz="1800">
              <a:solidFill>
                <a:schemeClr val="lt2"/>
              </a:solidFill>
            </a:endParaRPr>
          </a:p>
        </p:txBody>
      </p:sp>
      <p:pic>
        <p:nvPicPr>
          <p:cNvPr id="76" name="Google Shape;76;p14"/>
          <p:cNvPicPr preferRelativeResize="0"/>
          <p:nvPr/>
        </p:nvPicPr>
        <p:blipFill>
          <a:blip r:embed="rId4">
            <a:alphaModFix/>
          </a:blip>
          <a:stretch>
            <a:fillRect/>
          </a:stretch>
        </p:blipFill>
        <p:spPr>
          <a:xfrm>
            <a:off x="6335725" y="2308125"/>
            <a:ext cx="1509025" cy="1900600"/>
          </a:xfrm>
          <a:prstGeom prst="rect">
            <a:avLst/>
          </a:prstGeom>
          <a:noFill/>
          <a:ln>
            <a:noFill/>
          </a:ln>
        </p:spPr>
      </p:pic>
      <p:sp>
        <p:nvSpPr>
          <p:cNvPr id="77" name="Google Shape;77;p14"/>
          <p:cNvSpPr txBox="1"/>
          <p:nvPr/>
        </p:nvSpPr>
        <p:spPr>
          <a:xfrm>
            <a:off x="5422326" y="4281925"/>
            <a:ext cx="3486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2"/>
                </a:solidFill>
              </a:rPr>
              <a:t>Đặng Quốc Cường</a:t>
            </a:r>
            <a:r>
              <a:rPr lang="en" sz="1800">
                <a:solidFill>
                  <a:schemeClr val="lt2"/>
                </a:solidFill>
              </a:rPr>
              <a:t> - </a:t>
            </a:r>
            <a:r>
              <a:rPr lang="en" sz="1800">
                <a:solidFill>
                  <a:schemeClr val="lt2"/>
                </a:solidFill>
              </a:rPr>
              <a:t>23520192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471900" y="0"/>
            <a:ext cx="8222100" cy="72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Giới thiệu bài toán</a:t>
            </a:r>
            <a:endParaRPr/>
          </a:p>
        </p:txBody>
      </p:sp>
      <p:sp>
        <p:nvSpPr>
          <p:cNvPr id="83" name="Google Shape;83;p15"/>
          <p:cNvSpPr txBox="1"/>
          <p:nvPr>
            <p:ph idx="1" type="body"/>
          </p:nvPr>
        </p:nvSpPr>
        <p:spPr>
          <a:xfrm>
            <a:off x="206250" y="797325"/>
            <a:ext cx="5394000" cy="3908400"/>
          </a:xfrm>
          <a:prstGeom prst="rect">
            <a:avLst/>
          </a:prstGeom>
        </p:spPr>
        <p:txBody>
          <a:bodyPr anchorCtr="0" anchor="t" bIns="91425" lIns="91425" spcFirstLastPara="1" rIns="91425" wrap="square" tIns="91425">
            <a:noAutofit/>
          </a:bodyPr>
          <a:lstStyle/>
          <a:p>
            <a:pPr indent="0" lvl="0" marL="0" rtl="0" algn="just">
              <a:lnSpc>
                <a:spcPct val="130000"/>
              </a:lnSpc>
              <a:spcBef>
                <a:spcPts val="300"/>
              </a:spcBef>
              <a:spcAft>
                <a:spcPts val="0"/>
              </a:spcAft>
              <a:buNone/>
            </a:pPr>
            <a:r>
              <a:rPr lang="en" sz="1800">
                <a:solidFill>
                  <a:srgbClr val="2A2F4F"/>
                </a:solidFill>
                <a:latin typeface="Arial"/>
                <a:ea typeface="Arial"/>
                <a:cs typeface="Arial"/>
                <a:sym typeface="Arial"/>
              </a:rPr>
              <a:t>Online reviews đóng vai trò quan trọng trong thương mại điện tử.</a:t>
            </a:r>
            <a:r>
              <a:rPr lang="en" sz="1800">
                <a:latin typeface="Arial"/>
                <a:ea typeface="Arial"/>
                <a:cs typeface="Arial"/>
                <a:sym typeface="Arial"/>
              </a:rPr>
              <a:t> </a:t>
            </a:r>
            <a:r>
              <a:rPr lang="en" sz="1800">
                <a:solidFill>
                  <a:srgbClr val="2A2F4F"/>
                </a:solidFill>
                <a:latin typeface="Arial"/>
                <a:ea typeface="Arial"/>
                <a:cs typeface="Arial"/>
                <a:sym typeface="Arial"/>
              </a:rPr>
              <a:t>Kéo theo </a:t>
            </a:r>
            <a:r>
              <a:rPr lang="en" sz="1800">
                <a:solidFill>
                  <a:srgbClr val="2A2F4F"/>
                </a:solidFill>
                <a:latin typeface="Arial"/>
                <a:ea typeface="Arial"/>
                <a:cs typeface="Arial"/>
                <a:sym typeface="Arial"/>
              </a:rPr>
              <a:t>đó</a:t>
            </a:r>
            <a:r>
              <a:rPr lang="en" sz="1800">
                <a:solidFill>
                  <a:srgbClr val="2A2F4F"/>
                </a:solidFill>
                <a:latin typeface="Arial"/>
                <a:ea typeface="Arial"/>
                <a:cs typeface="Arial"/>
                <a:sym typeface="Arial"/>
              </a:rPr>
              <a:t> sự gia tăng của </a:t>
            </a:r>
            <a:r>
              <a:rPr b="1" lang="en" sz="1800">
                <a:solidFill>
                  <a:srgbClr val="2A2F4F"/>
                </a:solidFill>
                <a:latin typeface="Arial"/>
                <a:ea typeface="Arial"/>
                <a:cs typeface="Arial"/>
                <a:sym typeface="Arial"/>
              </a:rPr>
              <a:t>các đánh giá giả </a:t>
            </a:r>
            <a:r>
              <a:rPr b="1" lang="en" sz="1800">
                <a:solidFill>
                  <a:srgbClr val="2A2F4F"/>
                </a:solidFill>
                <a:latin typeface="Arial"/>
                <a:ea typeface="Arial"/>
                <a:cs typeface="Arial"/>
                <a:sym typeface="Arial"/>
              </a:rPr>
              <a:t>(fake reviews)</a:t>
            </a:r>
            <a:r>
              <a:rPr lang="en" sz="1800">
                <a:solidFill>
                  <a:srgbClr val="2A2F4F"/>
                </a:solidFill>
                <a:latin typeface="Arial"/>
                <a:ea typeface="Arial"/>
                <a:cs typeface="Arial"/>
                <a:sym typeface="Arial"/>
              </a:rPr>
              <a:t> gây nhiều ảnh hưởng tiêu cực.</a:t>
            </a:r>
            <a:endParaRPr sz="1800">
              <a:solidFill>
                <a:srgbClr val="2A2F4F"/>
              </a:solidFill>
              <a:latin typeface="Arial"/>
              <a:ea typeface="Arial"/>
              <a:cs typeface="Arial"/>
              <a:sym typeface="Arial"/>
            </a:endParaRPr>
          </a:p>
          <a:p>
            <a:pPr indent="0" lvl="0" marL="0" rtl="0" algn="just">
              <a:lnSpc>
                <a:spcPct val="130000"/>
              </a:lnSpc>
              <a:spcBef>
                <a:spcPts val="300"/>
              </a:spcBef>
              <a:spcAft>
                <a:spcPts val="0"/>
              </a:spcAft>
              <a:buNone/>
            </a:pPr>
            <a:r>
              <a:rPr b="1" lang="en" sz="1800">
                <a:latin typeface="Arial"/>
                <a:ea typeface="Arial"/>
                <a:cs typeface="Arial"/>
                <a:sym typeface="Arial"/>
              </a:rPr>
              <a:t>Fake reviews</a:t>
            </a:r>
            <a:r>
              <a:rPr lang="en" sz="1800">
                <a:latin typeface="Arial"/>
                <a:ea typeface="Arial"/>
                <a:cs typeface="Arial"/>
                <a:sym typeface="Arial"/>
              </a:rPr>
              <a:t> </a:t>
            </a:r>
            <a:r>
              <a:rPr lang="en" sz="1800">
                <a:solidFill>
                  <a:srgbClr val="2A2F4F"/>
                </a:solidFill>
                <a:latin typeface="Arial"/>
                <a:ea typeface="Arial"/>
                <a:cs typeface="Arial"/>
                <a:sym typeface="Arial"/>
              </a:rPr>
              <a:t>đ</a:t>
            </a:r>
            <a:r>
              <a:rPr lang="en" sz="1800">
                <a:solidFill>
                  <a:srgbClr val="2A2F4F"/>
                </a:solidFill>
                <a:latin typeface="Arial"/>
                <a:ea typeface="Arial"/>
                <a:cs typeface="Arial"/>
                <a:sym typeface="Arial"/>
              </a:rPr>
              <a:t>ược viết tinh vi hoặc sinh bằng AI </a:t>
            </a:r>
            <a:r>
              <a:rPr lang="en" sz="1800">
                <a:solidFill>
                  <a:srgbClr val="2A2F4F"/>
                </a:solidFill>
                <a:latin typeface="Arial"/>
                <a:ea typeface="Arial"/>
                <a:cs typeface="Arial"/>
                <a:sym typeface="Arial"/>
              </a:rPr>
              <a:t>càng phát triển</a:t>
            </a:r>
            <a:r>
              <a:rPr lang="en" sz="1800">
                <a:solidFill>
                  <a:srgbClr val="2A2F4F"/>
                </a:solidFill>
                <a:latin typeface="Arial"/>
                <a:ea typeface="Arial"/>
                <a:cs typeface="Arial"/>
                <a:sym typeface="Arial"/>
              </a:rPr>
              <a:t> </a:t>
            </a:r>
            <a:r>
              <a:rPr lang="en" sz="2000">
                <a:solidFill>
                  <a:srgbClr val="2A2F4F"/>
                </a:solidFill>
                <a:latin typeface="Arial"/>
                <a:ea typeface="Arial"/>
                <a:cs typeface="Arial"/>
                <a:sym typeface="Arial"/>
              </a:rPr>
              <a:t>→</a:t>
            </a:r>
            <a:r>
              <a:rPr lang="en" sz="1800">
                <a:solidFill>
                  <a:srgbClr val="2A2F4F"/>
                </a:solidFill>
                <a:latin typeface="Arial"/>
                <a:ea typeface="Arial"/>
                <a:cs typeface="Arial"/>
                <a:sym typeface="Arial"/>
              </a:rPr>
              <a:t> phát hiện khó khăn.</a:t>
            </a:r>
            <a:endParaRPr sz="1800">
              <a:solidFill>
                <a:srgbClr val="2A2F4F"/>
              </a:solidFill>
              <a:latin typeface="Arial"/>
              <a:ea typeface="Arial"/>
              <a:cs typeface="Arial"/>
              <a:sym typeface="Arial"/>
            </a:endParaRPr>
          </a:p>
          <a:p>
            <a:pPr indent="0" lvl="0" marL="0" rtl="0" algn="just">
              <a:lnSpc>
                <a:spcPct val="130000"/>
              </a:lnSpc>
              <a:spcBef>
                <a:spcPts val="300"/>
              </a:spcBef>
              <a:spcAft>
                <a:spcPts val="300"/>
              </a:spcAft>
              <a:buNone/>
            </a:pPr>
            <a:r>
              <a:rPr lang="en" sz="1800">
                <a:solidFill>
                  <a:srgbClr val="2A2F4F"/>
                </a:solidFill>
                <a:latin typeface="Arial"/>
                <a:ea typeface="Arial"/>
                <a:cs typeface="Arial"/>
                <a:sym typeface="Arial"/>
              </a:rPr>
              <a:t>    Phát triển mô hình </a:t>
            </a:r>
            <a:r>
              <a:rPr b="1" lang="en" sz="1800">
                <a:solidFill>
                  <a:srgbClr val="2A2F4F"/>
                </a:solidFill>
                <a:latin typeface="Arial"/>
                <a:ea typeface="Arial"/>
                <a:cs typeface="Arial"/>
                <a:sym typeface="Arial"/>
              </a:rPr>
              <a:t>phát hiện đánh giá giả </a:t>
            </a:r>
            <a:r>
              <a:rPr lang="en" sz="1800">
                <a:solidFill>
                  <a:srgbClr val="2A2F4F"/>
                </a:solidFill>
                <a:latin typeface="Arial"/>
                <a:ea typeface="Arial"/>
                <a:cs typeface="Arial"/>
                <a:sym typeface="Arial"/>
              </a:rPr>
              <a:t>chính xác và hiệu quả</a:t>
            </a:r>
            <a:r>
              <a:rPr lang="en" sz="1800">
                <a:solidFill>
                  <a:srgbClr val="2A2F4F"/>
                </a:solidFill>
                <a:latin typeface="Arial"/>
                <a:ea typeface="Arial"/>
                <a:cs typeface="Arial"/>
                <a:sym typeface="Arial"/>
              </a:rPr>
              <a:t> trở nên cấp thiết, </a:t>
            </a:r>
            <a:r>
              <a:rPr lang="en" sz="1800">
                <a:solidFill>
                  <a:srgbClr val="2A2F4F"/>
                </a:solidFill>
                <a:latin typeface="Arial"/>
                <a:ea typeface="Arial"/>
                <a:cs typeface="Arial"/>
                <a:sym typeface="Arial"/>
              </a:rPr>
              <a:t>có</a:t>
            </a:r>
            <a:r>
              <a:rPr lang="en" sz="1800">
                <a:solidFill>
                  <a:srgbClr val="2A2F4F"/>
                </a:solidFill>
                <a:latin typeface="Arial"/>
                <a:ea typeface="Arial"/>
                <a:cs typeface="Arial"/>
                <a:sym typeface="Arial"/>
              </a:rPr>
              <a:t> ý nghĩa quan trọng.</a:t>
            </a:r>
            <a:endParaRPr sz="2000"/>
          </a:p>
        </p:txBody>
      </p:sp>
      <p:pic>
        <p:nvPicPr>
          <p:cNvPr id="84" name="Google Shape;84;p15"/>
          <p:cNvPicPr preferRelativeResize="0"/>
          <p:nvPr/>
        </p:nvPicPr>
        <p:blipFill>
          <a:blip r:embed="rId3">
            <a:alphaModFix/>
          </a:blip>
          <a:stretch>
            <a:fillRect/>
          </a:stretch>
        </p:blipFill>
        <p:spPr>
          <a:xfrm>
            <a:off x="5702300" y="1601350"/>
            <a:ext cx="3340974" cy="2300351"/>
          </a:xfrm>
          <a:prstGeom prst="rect">
            <a:avLst/>
          </a:prstGeom>
          <a:noFill/>
          <a:ln>
            <a:noFill/>
          </a:ln>
        </p:spPr>
      </p:pic>
      <p:sp>
        <p:nvSpPr>
          <p:cNvPr id="85" name="Google Shape;85;p15"/>
          <p:cNvSpPr txBox="1"/>
          <p:nvPr/>
        </p:nvSpPr>
        <p:spPr>
          <a:xfrm>
            <a:off x="6655200" y="4511625"/>
            <a:ext cx="2488800" cy="19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Roboto"/>
                <a:ea typeface="Roboto"/>
                <a:cs typeface="Roboto"/>
                <a:sym typeface="Roboto"/>
              </a:rPr>
              <a:t>Nguồn ảnh: BrightLocal Survey</a:t>
            </a:r>
            <a:endParaRPr sz="1200">
              <a:solidFill>
                <a:schemeClr val="lt2"/>
              </a:solidFill>
              <a:latin typeface="Roboto"/>
              <a:ea typeface="Roboto"/>
              <a:cs typeface="Roboto"/>
              <a:sym typeface="Roboto"/>
            </a:endParaRPr>
          </a:p>
        </p:txBody>
      </p:sp>
      <p:sp>
        <p:nvSpPr>
          <p:cNvPr id="86" name="Google Shape;86;p15"/>
          <p:cNvSpPr/>
          <p:nvPr/>
        </p:nvSpPr>
        <p:spPr>
          <a:xfrm flipH="1" rot="10800000">
            <a:off x="263300" y="3204075"/>
            <a:ext cx="425400" cy="194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idx="1" type="body"/>
          </p:nvPr>
        </p:nvSpPr>
        <p:spPr>
          <a:xfrm>
            <a:off x="215400" y="805950"/>
            <a:ext cx="8822400" cy="4014300"/>
          </a:xfrm>
          <a:prstGeom prst="rect">
            <a:avLst/>
          </a:prstGeom>
        </p:spPr>
        <p:txBody>
          <a:bodyPr anchorCtr="0" anchor="t" bIns="91425" lIns="91425" spcFirstLastPara="1" rIns="91425" wrap="square" tIns="91425">
            <a:noAutofit/>
          </a:bodyPr>
          <a:lstStyle/>
          <a:p>
            <a:pPr indent="0" lvl="0" marL="0" rtl="0" algn="just">
              <a:lnSpc>
                <a:spcPct val="130000"/>
              </a:lnSpc>
              <a:spcBef>
                <a:spcPts val="300"/>
              </a:spcBef>
              <a:spcAft>
                <a:spcPts val="0"/>
              </a:spcAft>
              <a:buNone/>
            </a:pPr>
            <a:r>
              <a:rPr lang="en" sz="1500">
                <a:solidFill>
                  <a:srgbClr val="2A2F4F"/>
                </a:solidFill>
                <a:latin typeface="Arial"/>
                <a:ea typeface="Arial"/>
                <a:cs typeface="Arial"/>
                <a:sym typeface="Arial"/>
              </a:rPr>
              <a:t>Hướng tiếp cận ban đầu dựa trên đặc trưng thủ công (độ dài câu, tần suất từ khóa,...). Chúng phụ thuộc mạnh vào miền, khó áp dụng cho tổng quát.</a:t>
            </a:r>
            <a:endParaRPr sz="1500">
              <a:solidFill>
                <a:srgbClr val="2A2F4F"/>
              </a:solidFill>
              <a:latin typeface="Arial"/>
              <a:ea typeface="Arial"/>
              <a:cs typeface="Arial"/>
              <a:sym typeface="Arial"/>
            </a:endParaRPr>
          </a:p>
          <a:p>
            <a:pPr indent="0" lvl="0" marL="0" rtl="0" algn="just">
              <a:lnSpc>
                <a:spcPct val="130000"/>
              </a:lnSpc>
              <a:spcBef>
                <a:spcPts val="300"/>
              </a:spcBef>
              <a:spcAft>
                <a:spcPts val="0"/>
              </a:spcAft>
              <a:buNone/>
            </a:pPr>
            <a:r>
              <a:rPr lang="en" sz="1500">
                <a:solidFill>
                  <a:srgbClr val="2A2F4F"/>
                </a:solidFill>
                <a:latin typeface="Arial"/>
                <a:ea typeface="Arial"/>
                <a:cs typeface="Arial"/>
                <a:sym typeface="Arial"/>
              </a:rPr>
              <a:t>Sự ra đời của </a:t>
            </a:r>
            <a:r>
              <a:rPr b="1" lang="en" sz="1500">
                <a:solidFill>
                  <a:srgbClr val="2A2F4F"/>
                </a:solidFill>
                <a:latin typeface="Arial"/>
                <a:ea typeface="Arial"/>
                <a:cs typeface="Arial"/>
                <a:sym typeface="Arial"/>
              </a:rPr>
              <a:t>Transformer </a:t>
            </a:r>
            <a:r>
              <a:rPr lang="en" sz="1500">
                <a:solidFill>
                  <a:srgbClr val="2A2F4F"/>
                </a:solidFill>
                <a:latin typeface="Arial"/>
                <a:ea typeface="Arial"/>
                <a:cs typeface="Arial"/>
                <a:sym typeface="Arial"/>
              </a:rPr>
              <a:t>giúp học biểu diễn ngữ nghĩa sâu. Transformer thường xử lý nội dung như một khối ngữ nghĩa tổng thể </a:t>
            </a:r>
            <a:r>
              <a:rPr lang="en" sz="2100">
                <a:solidFill>
                  <a:srgbClr val="2A2F4F"/>
                </a:solidFill>
                <a:latin typeface="Arial"/>
                <a:ea typeface="Arial"/>
                <a:cs typeface="Arial"/>
                <a:sym typeface="Arial"/>
              </a:rPr>
              <a:t>→</a:t>
            </a:r>
            <a:r>
              <a:rPr lang="en" sz="1500">
                <a:solidFill>
                  <a:srgbClr val="2A2F4F"/>
                </a:solidFill>
                <a:latin typeface="Arial"/>
                <a:ea typeface="Arial"/>
                <a:cs typeface="Arial"/>
                <a:sym typeface="Arial"/>
              </a:rPr>
              <a:t> </a:t>
            </a:r>
            <a:r>
              <a:rPr lang="en" sz="1500">
                <a:latin typeface="Arial"/>
                <a:ea typeface="Arial"/>
                <a:cs typeface="Arial"/>
                <a:sym typeface="Arial"/>
              </a:rPr>
              <a:t>khó nắm bắt </a:t>
            </a:r>
            <a:r>
              <a:rPr b="1" lang="en" sz="1500">
                <a:latin typeface="Arial"/>
                <a:ea typeface="Arial"/>
                <a:cs typeface="Arial"/>
                <a:sym typeface="Arial"/>
              </a:rPr>
              <a:t>mối quan hệ giữa các khía cạnh cụ thể trong cùng một review</a:t>
            </a:r>
            <a:r>
              <a:rPr lang="en" sz="1500">
                <a:latin typeface="Arial"/>
                <a:ea typeface="Arial"/>
                <a:cs typeface="Arial"/>
                <a:sym typeface="Arial"/>
              </a:rPr>
              <a:t>.</a:t>
            </a:r>
            <a:endParaRPr sz="1900">
              <a:solidFill>
                <a:srgbClr val="2A2F4F"/>
              </a:solidFill>
              <a:latin typeface="Arial"/>
              <a:ea typeface="Arial"/>
              <a:cs typeface="Arial"/>
              <a:sym typeface="Arial"/>
            </a:endParaRPr>
          </a:p>
          <a:p>
            <a:pPr indent="0" lvl="0" marL="0" rtl="0" algn="l">
              <a:spcBef>
                <a:spcPts val="1200"/>
              </a:spcBef>
              <a:spcAft>
                <a:spcPts val="0"/>
              </a:spcAft>
              <a:buNone/>
            </a:pPr>
            <a:r>
              <a:rPr lang="en" sz="1500">
                <a:latin typeface="Arial"/>
                <a:ea typeface="Arial"/>
                <a:cs typeface="Arial"/>
                <a:sym typeface="Arial"/>
              </a:rPr>
              <a:t>Graph Neural Networks (</a:t>
            </a:r>
            <a:r>
              <a:rPr lang="en" sz="1500">
                <a:latin typeface="Arial"/>
                <a:ea typeface="Arial"/>
                <a:cs typeface="Arial"/>
                <a:sym typeface="Arial"/>
              </a:rPr>
              <a:t>GNN)</a:t>
            </a:r>
            <a:r>
              <a:rPr lang="en" sz="1500">
                <a:latin typeface="Arial"/>
                <a:ea typeface="Arial"/>
                <a:cs typeface="Arial"/>
                <a:sym typeface="Arial"/>
              </a:rPr>
              <a:t> trở thành xu hướng:</a:t>
            </a:r>
            <a:endParaRPr sz="1500">
              <a:latin typeface="Arial"/>
              <a:ea typeface="Arial"/>
              <a:cs typeface="Arial"/>
              <a:sym typeface="Arial"/>
            </a:endParaRPr>
          </a:p>
          <a:p>
            <a:pPr indent="-323850" lvl="0" marL="457200" rtl="0" algn="l">
              <a:spcBef>
                <a:spcPts val="1200"/>
              </a:spcBef>
              <a:spcAft>
                <a:spcPts val="0"/>
              </a:spcAft>
              <a:buSzPts val="1500"/>
              <a:buFont typeface="Arial"/>
              <a:buChar char="●"/>
            </a:pPr>
            <a:r>
              <a:rPr lang="en" sz="1500">
                <a:latin typeface="Arial"/>
                <a:ea typeface="Arial"/>
                <a:cs typeface="Arial"/>
                <a:sym typeface="Arial"/>
              </a:rPr>
              <a:t>Reviewer, review, item có quan hệ phức tạp dạng đồ thị</a:t>
            </a:r>
            <a:endParaRPr sz="1500">
              <a:latin typeface="Arial"/>
              <a:ea typeface="Arial"/>
              <a:cs typeface="Arial"/>
              <a:sym typeface="Arial"/>
            </a:endParaRPr>
          </a:p>
          <a:p>
            <a:pPr indent="-323850" lvl="0" marL="457200" rtl="0" algn="l">
              <a:spcBef>
                <a:spcPts val="0"/>
              </a:spcBef>
              <a:spcAft>
                <a:spcPts val="0"/>
              </a:spcAft>
              <a:buSzPts val="1500"/>
              <a:buFont typeface="Arial"/>
              <a:buChar char="●"/>
            </a:pPr>
            <a:r>
              <a:rPr lang="en" sz="1500">
                <a:latin typeface="Arial"/>
                <a:ea typeface="Arial"/>
                <a:cs typeface="Arial"/>
                <a:sym typeface="Arial"/>
              </a:rPr>
              <a:t>Có thể phát hiện pattern vượt ngoài phạm vi ngôn ngữ.</a:t>
            </a:r>
            <a:endParaRPr sz="1500">
              <a:latin typeface="Arial"/>
              <a:ea typeface="Arial"/>
              <a:cs typeface="Arial"/>
              <a:sym typeface="Arial"/>
            </a:endParaRPr>
          </a:p>
          <a:p>
            <a:pPr indent="0" lvl="0" marL="0" rtl="0" algn="l">
              <a:spcBef>
                <a:spcPts val="1200"/>
              </a:spcBef>
              <a:spcAft>
                <a:spcPts val="0"/>
              </a:spcAft>
              <a:buNone/>
            </a:pPr>
            <a:r>
              <a:t/>
            </a:r>
            <a:endParaRPr sz="1500">
              <a:latin typeface="Arial"/>
              <a:ea typeface="Arial"/>
              <a:cs typeface="Arial"/>
              <a:sym typeface="Arial"/>
            </a:endParaRPr>
          </a:p>
          <a:p>
            <a:pPr indent="0" lvl="0" marL="0" rtl="0" algn="l">
              <a:spcBef>
                <a:spcPts val="1200"/>
              </a:spcBef>
              <a:spcAft>
                <a:spcPts val="0"/>
              </a:spcAft>
              <a:buNone/>
            </a:pPr>
            <a:r>
              <a:rPr lang="en" sz="1500">
                <a:latin typeface="Arial"/>
                <a:ea typeface="Arial"/>
                <a:cs typeface="Arial"/>
                <a:sym typeface="Arial"/>
              </a:rPr>
              <a:t>P</a:t>
            </a:r>
            <a:r>
              <a:rPr lang="en" sz="1500">
                <a:latin typeface="Arial"/>
                <a:ea typeface="Arial"/>
                <a:cs typeface="Arial"/>
                <a:sym typeface="Arial"/>
              </a:rPr>
              <a:t>hần lớn các mô hình GNN hiện nay không tận dụng </a:t>
            </a:r>
            <a:r>
              <a:rPr lang="en" sz="1500">
                <a:latin typeface="Arial"/>
                <a:ea typeface="Arial"/>
                <a:cs typeface="Arial"/>
                <a:sym typeface="Arial"/>
              </a:rPr>
              <a:t>nhiều </a:t>
            </a:r>
            <a:r>
              <a:rPr lang="en" sz="1500">
                <a:latin typeface="Arial"/>
                <a:ea typeface="Arial"/>
                <a:cs typeface="Arial"/>
                <a:sym typeface="Arial"/>
              </a:rPr>
              <a:t>thông tin về </a:t>
            </a:r>
            <a:r>
              <a:rPr lang="en" sz="1500">
                <a:latin typeface="Arial"/>
                <a:ea typeface="Arial"/>
                <a:cs typeface="Arial"/>
                <a:sym typeface="Arial"/>
              </a:rPr>
              <a:t>khía cạnh cụ thể</a:t>
            </a:r>
            <a:r>
              <a:rPr lang="en" sz="1500">
                <a:latin typeface="Arial"/>
                <a:ea typeface="Arial"/>
                <a:cs typeface="Arial"/>
                <a:sym typeface="Arial"/>
              </a:rPr>
              <a:t>, yếu tố quan trọng trong phân tích mức độ tự nhiên của review.</a:t>
            </a:r>
            <a:endParaRPr sz="1500">
              <a:latin typeface="Arial"/>
              <a:ea typeface="Arial"/>
              <a:cs typeface="Arial"/>
              <a:sym typeface="Arial"/>
            </a:endParaRPr>
          </a:p>
          <a:p>
            <a:pPr indent="0" lvl="0" marL="914400" rtl="0" algn="l">
              <a:spcBef>
                <a:spcPts val="1200"/>
              </a:spcBef>
              <a:spcAft>
                <a:spcPts val="1600"/>
              </a:spcAft>
              <a:buNone/>
            </a:pPr>
            <a:r>
              <a:t/>
            </a:r>
            <a:endParaRPr sz="2400">
              <a:latin typeface="Arial"/>
              <a:ea typeface="Arial"/>
              <a:cs typeface="Arial"/>
              <a:sym typeface="Arial"/>
            </a:endParaRPr>
          </a:p>
        </p:txBody>
      </p:sp>
      <p:sp>
        <p:nvSpPr>
          <p:cNvPr id="92" name="Google Shape;92;p16"/>
          <p:cNvSpPr txBox="1"/>
          <p:nvPr>
            <p:ph type="title"/>
          </p:nvPr>
        </p:nvSpPr>
        <p:spPr>
          <a:xfrm>
            <a:off x="471900" y="0"/>
            <a:ext cx="8222100" cy="72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Giới thiệu bài toán</a:t>
            </a:r>
            <a:endParaRPr/>
          </a:p>
        </p:txBody>
      </p:sp>
      <p:pic>
        <p:nvPicPr>
          <p:cNvPr id="93" name="Google Shape;93;p16"/>
          <p:cNvPicPr preferRelativeResize="0"/>
          <p:nvPr/>
        </p:nvPicPr>
        <p:blipFill>
          <a:blip r:embed="rId3">
            <a:alphaModFix/>
          </a:blip>
          <a:stretch>
            <a:fillRect/>
          </a:stretch>
        </p:blipFill>
        <p:spPr>
          <a:xfrm>
            <a:off x="5508350" y="2201075"/>
            <a:ext cx="3529449" cy="1858575"/>
          </a:xfrm>
          <a:prstGeom prst="rect">
            <a:avLst/>
          </a:prstGeom>
          <a:noFill/>
          <a:ln>
            <a:noFill/>
          </a:ln>
        </p:spPr>
      </p:pic>
      <p:sp>
        <p:nvSpPr>
          <p:cNvPr id="94" name="Google Shape;94;p16"/>
          <p:cNvSpPr txBox="1"/>
          <p:nvPr/>
        </p:nvSpPr>
        <p:spPr>
          <a:xfrm>
            <a:off x="5942125" y="4506650"/>
            <a:ext cx="3354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Roboto"/>
                <a:ea typeface="Roboto"/>
                <a:cs typeface="Roboto"/>
                <a:sym typeface="Roboto"/>
              </a:rPr>
              <a:t>Nguồn ảnh: https://www.gautamnaik.com/</a:t>
            </a:r>
            <a:endParaRPr sz="1200">
              <a:solidFill>
                <a:schemeClr val="lt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471900" y="0"/>
            <a:ext cx="8222100" cy="72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Các phương pháp </a:t>
            </a:r>
            <a:r>
              <a:rPr b="1" lang="en"/>
              <a:t>liên quan</a:t>
            </a:r>
            <a:endParaRPr/>
          </a:p>
        </p:txBody>
      </p:sp>
      <p:sp>
        <p:nvSpPr>
          <p:cNvPr id="100" name="Google Shape;100;p17"/>
          <p:cNvSpPr txBox="1"/>
          <p:nvPr/>
        </p:nvSpPr>
        <p:spPr>
          <a:xfrm>
            <a:off x="254775" y="728400"/>
            <a:ext cx="85131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t>Spam Review Detection with Graph Convolutional Networks (CIKM 2019)</a:t>
            </a:r>
            <a:endParaRPr sz="1200"/>
          </a:p>
          <a:p>
            <a:pPr indent="-304800" lvl="0" marL="457200" rtl="0" algn="l">
              <a:lnSpc>
                <a:spcPct val="115000"/>
              </a:lnSpc>
              <a:spcBef>
                <a:spcPts val="1200"/>
              </a:spcBef>
              <a:spcAft>
                <a:spcPts val="0"/>
              </a:spcAft>
              <a:buSzPts val="1200"/>
              <a:buChar char="●"/>
            </a:pPr>
            <a:r>
              <a:rPr lang="en" sz="1200"/>
              <a:t>Xây dựng đồ thị User-Review-Item.</a:t>
            </a:r>
            <a:endParaRPr sz="1200"/>
          </a:p>
          <a:p>
            <a:pPr indent="-304800" lvl="0" marL="457200" rtl="0" algn="l">
              <a:lnSpc>
                <a:spcPct val="115000"/>
              </a:lnSpc>
              <a:spcBef>
                <a:spcPts val="0"/>
              </a:spcBef>
              <a:spcAft>
                <a:spcPts val="0"/>
              </a:spcAft>
              <a:buSzPts val="1200"/>
              <a:buChar char="●"/>
            </a:pPr>
            <a:r>
              <a:rPr lang="en" sz="1200"/>
              <a:t>Học embedding cho User và Review.</a:t>
            </a:r>
            <a:endParaRPr sz="1200"/>
          </a:p>
          <a:p>
            <a:pPr indent="-304800" lvl="0" marL="457200" rtl="0" algn="l">
              <a:lnSpc>
                <a:spcPct val="115000"/>
              </a:lnSpc>
              <a:spcBef>
                <a:spcPts val="0"/>
              </a:spcBef>
              <a:spcAft>
                <a:spcPts val="0"/>
              </a:spcAft>
              <a:buSzPts val="1200"/>
              <a:buChar char="●"/>
            </a:pPr>
            <a:r>
              <a:rPr lang="en" sz="1200"/>
              <a:t>Nếu User kết nối với nhiều Review giả, User đó sẽ có tính chất giả mạo thông qua quá trình lan truyền của GCN.</a:t>
            </a:r>
            <a:endParaRPr b="1" sz="1200"/>
          </a:p>
        </p:txBody>
      </p:sp>
      <p:sp>
        <p:nvSpPr>
          <p:cNvPr id="101" name="Google Shape;101;p17"/>
          <p:cNvSpPr txBox="1"/>
          <p:nvPr/>
        </p:nvSpPr>
        <p:spPr>
          <a:xfrm>
            <a:off x="309150" y="2969425"/>
            <a:ext cx="9262800" cy="9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 sz="1200"/>
              <a:t>Heterogeneous Graph Transformer (HGT)</a:t>
            </a:r>
            <a:endParaRPr b="1" sz="1200"/>
          </a:p>
          <a:p>
            <a:pPr indent="-304800" lvl="0" marL="457200" rtl="0" algn="l">
              <a:lnSpc>
                <a:spcPct val="115000"/>
              </a:lnSpc>
              <a:spcBef>
                <a:spcPts val="1200"/>
              </a:spcBef>
              <a:spcAft>
                <a:spcPts val="0"/>
              </a:spcAft>
              <a:buSzPts val="1200"/>
              <a:buChar char="●"/>
            </a:pPr>
            <a:r>
              <a:rPr lang="en" sz="1200"/>
              <a:t>Là đồ thị có từ 2 loại node hoặc từ 2 loại cạnh trở lên.</a:t>
            </a:r>
            <a:endParaRPr sz="1200"/>
          </a:p>
          <a:p>
            <a:pPr indent="-304800" lvl="0" marL="457200" rtl="0" algn="l">
              <a:lnSpc>
                <a:spcPct val="115000"/>
              </a:lnSpc>
              <a:spcBef>
                <a:spcPts val="0"/>
              </a:spcBef>
              <a:spcAft>
                <a:spcPts val="0"/>
              </a:spcAft>
              <a:buSzPts val="1200"/>
              <a:buChar char="●"/>
            </a:pPr>
            <a:r>
              <a:rPr lang="en" sz="1200"/>
              <a:t>Mô hình học cách giải thích, phân biệt, và định trọng số từng loại quan hệ khác nhau trong đồ thị</a:t>
            </a:r>
            <a:endParaRPr sz="1200"/>
          </a:p>
        </p:txBody>
      </p:sp>
      <p:sp>
        <p:nvSpPr>
          <p:cNvPr id="102" name="Google Shape;102;p17"/>
          <p:cNvSpPr txBox="1"/>
          <p:nvPr/>
        </p:nvSpPr>
        <p:spPr>
          <a:xfrm>
            <a:off x="309150" y="1778275"/>
            <a:ext cx="8547600" cy="9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200"/>
              <a:t>PC-GNN - </a:t>
            </a:r>
            <a:r>
              <a:rPr i="1" lang="en" sz="1200"/>
              <a:t>Pick and Choose Graph Neural Network </a:t>
            </a:r>
            <a:r>
              <a:rPr b="1" lang="en" sz="1200"/>
              <a:t>(WWW 2021)</a:t>
            </a:r>
            <a:endParaRPr b="1" sz="1200"/>
          </a:p>
          <a:p>
            <a:pPr indent="-304800" lvl="0" marL="457200" rtl="0" algn="l">
              <a:lnSpc>
                <a:spcPct val="115000"/>
              </a:lnSpc>
              <a:spcBef>
                <a:spcPts val="1200"/>
              </a:spcBef>
              <a:spcAft>
                <a:spcPts val="0"/>
              </a:spcAft>
              <a:buSzPts val="1200"/>
              <a:buChar char="●"/>
            </a:pPr>
            <a:r>
              <a:rPr b="1" lang="en" sz="1200"/>
              <a:t>Vấn đề:</a:t>
            </a:r>
            <a:r>
              <a:rPr lang="en" sz="1200"/>
              <a:t> Trong thực tế, review giả chỉ chiếm số lượng rất nhỏ (&lt;10%), review thật chiếm đa số..</a:t>
            </a:r>
            <a:endParaRPr sz="1200"/>
          </a:p>
          <a:p>
            <a:pPr indent="-304800" lvl="0" marL="457200" rtl="0" algn="l">
              <a:lnSpc>
                <a:spcPct val="115000"/>
              </a:lnSpc>
              <a:spcBef>
                <a:spcPts val="0"/>
              </a:spcBef>
              <a:spcAft>
                <a:spcPts val="0"/>
              </a:spcAft>
              <a:buSzPts val="1200"/>
              <a:buChar char="●"/>
            </a:pPr>
            <a:r>
              <a:rPr b="1" lang="en" sz="1200"/>
              <a:t>Phương pháp:</a:t>
            </a:r>
            <a:r>
              <a:rPr lang="en" sz="1200"/>
              <a:t> Chọn các node nghi ngờ là spam để train kỹ hơn và giảm bớt các node bình thường.</a:t>
            </a:r>
            <a:endParaRPr sz="1200"/>
          </a:p>
        </p:txBody>
      </p:sp>
      <p:sp>
        <p:nvSpPr>
          <p:cNvPr id="103" name="Google Shape;103;p17"/>
          <p:cNvSpPr txBox="1"/>
          <p:nvPr/>
        </p:nvSpPr>
        <p:spPr>
          <a:xfrm>
            <a:off x="309150" y="2649900"/>
            <a:ext cx="85476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1200"/>
              <a:t>ABSA - Aspect based sentiment analysis: </a:t>
            </a:r>
            <a:r>
              <a:rPr lang="en" sz="1200"/>
              <a:t>Thư viện </a:t>
            </a:r>
            <a:r>
              <a:rPr b="1" lang="en" sz="1200"/>
              <a:t>PyABSA</a:t>
            </a:r>
            <a:r>
              <a:rPr lang="en" sz="1200"/>
              <a:t> cung cấp nhiều pretrain model.</a:t>
            </a:r>
            <a:endParaRPr sz="1200"/>
          </a:p>
        </p:txBody>
      </p:sp>
      <p:sp>
        <p:nvSpPr>
          <p:cNvPr id="104" name="Google Shape;104;p17"/>
          <p:cNvSpPr txBox="1"/>
          <p:nvPr/>
        </p:nvSpPr>
        <p:spPr>
          <a:xfrm>
            <a:off x="254775" y="3866725"/>
            <a:ext cx="9262800" cy="96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 sz="1200"/>
              <a:t>Utilizing BERT for Aspect-Based Sentiment Analysis via Constructing Auxiliary Sentence</a:t>
            </a:r>
            <a:r>
              <a:rPr b="1" lang="en" sz="1300">
                <a:solidFill>
                  <a:srgbClr val="212529"/>
                </a:solidFill>
                <a:highlight>
                  <a:srgbClr val="FFFFFF"/>
                </a:highlight>
                <a:latin typeface="Roboto"/>
                <a:ea typeface="Roboto"/>
                <a:cs typeface="Roboto"/>
                <a:sym typeface="Roboto"/>
              </a:rPr>
              <a:t>(Sun et al., NAACL 2019)</a:t>
            </a:r>
            <a:endParaRPr b="1" sz="1200"/>
          </a:p>
          <a:p>
            <a:pPr indent="-304800" lvl="0" marL="457200" rtl="0" algn="l">
              <a:lnSpc>
                <a:spcPct val="115000"/>
              </a:lnSpc>
              <a:spcBef>
                <a:spcPts val="1200"/>
              </a:spcBef>
              <a:spcAft>
                <a:spcPts val="0"/>
              </a:spcAft>
              <a:buSzPts val="1200"/>
              <a:buChar char="●"/>
            </a:pPr>
            <a:r>
              <a:rPr lang="en" sz="1200"/>
              <a:t>Đưa thông tin khía cạnh một cách tường minh vào mô hình giúp định hướng quá trình học biểu diễn ngữ nghĩa</a:t>
            </a:r>
            <a:endParaRPr sz="1200"/>
          </a:p>
          <a:p>
            <a:pPr indent="-304800" lvl="0" marL="457200" rtl="0" algn="l">
              <a:lnSpc>
                <a:spcPct val="115000"/>
              </a:lnSpc>
              <a:spcBef>
                <a:spcPts val="0"/>
              </a:spcBef>
              <a:spcAft>
                <a:spcPts val="0"/>
              </a:spcAft>
              <a:buSzPts val="1200"/>
              <a:buChar char="●"/>
            </a:pPr>
            <a:r>
              <a:rPr lang="en" sz="1200"/>
              <a:t>Tích hợp aspect không làm loãng thông tin, mà ngược lại làm giàu representation và cải thiện hiệu quả dự đoán</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471900" y="0"/>
            <a:ext cx="8222100" cy="72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Mục tiêu</a:t>
            </a:r>
            <a:endParaRPr/>
          </a:p>
        </p:txBody>
      </p:sp>
      <p:sp>
        <p:nvSpPr>
          <p:cNvPr id="110" name="Google Shape;110;p18"/>
          <p:cNvSpPr txBox="1"/>
          <p:nvPr>
            <p:ph idx="1" type="body"/>
          </p:nvPr>
        </p:nvSpPr>
        <p:spPr>
          <a:xfrm>
            <a:off x="119125" y="837725"/>
            <a:ext cx="5585400" cy="39084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1" lang="en" sz="1500">
                <a:latin typeface="Arial"/>
                <a:ea typeface="Arial"/>
                <a:cs typeface="Arial"/>
                <a:sym typeface="Arial"/>
              </a:rPr>
              <a:t>Xây dựng được mô hình phát hiện đánh giá giả dựa trên đồ thị dị thể (</a:t>
            </a:r>
            <a:r>
              <a:rPr b="1" lang="en" sz="1500">
                <a:latin typeface="Arial"/>
                <a:ea typeface="Arial"/>
                <a:cs typeface="Arial"/>
                <a:sym typeface="Arial"/>
              </a:rPr>
              <a:t>Heterogeneous Graph</a:t>
            </a:r>
            <a:r>
              <a:rPr b="1" lang="en" sz="1500">
                <a:latin typeface="Arial"/>
                <a:ea typeface="Arial"/>
                <a:cs typeface="Arial"/>
                <a:sym typeface="Arial"/>
              </a:rPr>
              <a:t>)</a:t>
            </a:r>
            <a:r>
              <a:rPr lang="en" sz="1500">
                <a:latin typeface="Arial"/>
                <a:ea typeface="Arial"/>
                <a:cs typeface="Arial"/>
                <a:sym typeface="Arial"/>
              </a:rPr>
              <a:t> với khía cạnh và cảm xúc được tích hợp vào đồ thị để khai thác: ngữ nghĩa văn bản,</a:t>
            </a:r>
            <a:r>
              <a:rPr lang="en" sz="1500">
                <a:latin typeface="Arial"/>
                <a:ea typeface="Arial"/>
                <a:cs typeface="Arial"/>
                <a:sym typeface="Arial"/>
              </a:rPr>
              <a:t> người dùng</a:t>
            </a:r>
            <a:r>
              <a:rPr lang="en" sz="1500">
                <a:latin typeface="Arial"/>
                <a:ea typeface="Arial"/>
                <a:cs typeface="Arial"/>
                <a:sym typeface="Arial"/>
              </a:rPr>
              <a:t> và</a:t>
            </a:r>
            <a:r>
              <a:rPr lang="en" sz="1500">
                <a:latin typeface="Arial"/>
                <a:ea typeface="Arial"/>
                <a:cs typeface="Arial"/>
                <a:sym typeface="Arial"/>
              </a:rPr>
              <a:t> mối quan hệ giữa</a:t>
            </a:r>
            <a:r>
              <a:rPr lang="en" sz="1500">
                <a:latin typeface="Arial"/>
                <a:ea typeface="Arial"/>
                <a:cs typeface="Arial"/>
                <a:sym typeface="Arial"/>
              </a:rPr>
              <a:t> các khía cạnh.</a:t>
            </a:r>
            <a:endParaRPr sz="1500">
              <a:latin typeface="Arial"/>
              <a:ea typeface="Arial"/>
              <a:cs typeface="Arial"/>
              <a:sym typeface="Arial"/>
            </a:endParaRPr>
          </a:p>
          <a:p>
            <a:pPr indent="0" lvl="0" marL="0" rtl="0" algn="l">
              <a:lnSpc>
                <a:spcPct val="150000"/>
              </a:lnSpc>
              <a:spcBef>
                <a:spcPts val="1200"/>
              </a:spcBef>
              <a:spcAft>
                <a:spcPts val="0"/>
              </a:spcAft>
              <a:buNone/>
            </a:pPr>
            <a:r>
              <a:rPr b="1" lang="en" sz="1500">
                <a:latin typeface="Arial"/>
                <a:ea typeface="Arial"/>
                <a:cs typeface="Arial"/>
                <a:sym typeface="Arial"/>
              </a:rPr>
              <a:t>Khảo sát mức độ đóng góp</a:t>
            </a:r>
            <a:r>
              <a:rPr lang="en" sz="1500">
                <a:latin typeface="Arial"/>
                <a:ea typeface="Arial"/>
                <a:cs typeface="Arial"/>
                <a:sym typeface="Arial"/>
              </a:rPr>
              <a:t> của thông tin khía cạnh đối với hiệu quả của mô hình đồ thị qua việc so sánh kết quả khi có và khi không có các thông tin này.</a:t>
            </a:r>
            <a:endParaRPr sz="1500">
              <a:latin typeface="Arial"/>
              <a:ea typeface="Arial"/>
              <a:cs typeface="Arial"/>
              <a:sym typeface="Arial"/>
            </a:endParaRPr>
          </a:p>
          <a:p>
            <a:pPr indent="0" lvl="0" marL="0" rtl="0" algn="l">
              <a:lnSpc>
                <a:spcPct val="150000"/>
              </a:lnSpc>
              <a:spcBef>
                <a:spcPts val="1200"/>
              </a:spcBef>
              <a:spcAft>
                <a:spcPts val="1200"/>
              </a:spcAft>
              <a:buNone/>
            </a:pPr>
            <a:r>
              <a:rPr b="1" lang="en" sz="1500">
                <a:latin typeface="Arial"/>
                <a:ea typeface="Arial"/>
                <a:cs typeface="Arial"/>
                <a:sym typeface="Arial"/>
              </a:rPr>
              <a:t>Thực nghiệm và so sánh</a:t>
            </a:r>
            <a:r>
              <a:rPr lang="en" sz="1500">
                <a:latin typeface="Arial"/>
                <a:ea typeface="Arial"/>
                <a:cs typeface="Arial"/>
                <a:sym typeface="Arial"/>
              </a:rPr>
              <a:t> mô hình đề xuất với một số phương pháp hiện có trên bộ dữ liệu chuẩn, nhằm đánh giá hiệu quả và khả năng áp dụng.</a:t>
            </a:r>
            <a:endParaRPr b="1" sz="1700">
              <a:latin typeface="Arial"/>
              <a:ea typeface="Arial"/>
              <a:cs typeface="Arial"/>
              <a:sym typeface="Arial"/>
            </a:endParaRPr>
          </a:p>
        </p:txBody>
      </p:sp>
      <p:sp>
        <p:nvSpPr>
          <p:cNvPr id="111" name="Google Shape;111;p18"/>
          <p:cNvSpPr/>
          <p:nvPr/>
        </p:nvSpPr>
        <p:spPr>
          <a:xfrm>
            <a:off x="5704525" y="1761425"/>
            <a:ext cx="3404400" cy="2279100"/>
          </a:xfrm>
          <a:prstGeom prst="roundRect">
            <a:avLst>
              <a:gd fmla="val 16667" name="adj"/>
            </a:avLst>
          </a:prstGeom>
          <a:solidFill>
            <a:srgbClr val="F7F7F7"/>
          </a:solidFill>
          <a:ln cap="flat" cmpd="sng" w="8950">
            <a:solidFill>
              <a:schemeClr val="dk2"/>
            </a:solidFill>
            <a:prstDash val="solid"/>
            <a:round/>
            <a:headEnd len="sm" w="sm" type="none"/>
            <a:tailEnd len="sm" w="sm" type="none"/>
          </a:ln>
        </p:spPr>
        <p:txBody>
          <a:bodyPr anchorCtr="0" anchor="ctr" bIns="85825" lIns="85825" spcFirstLastPara="1" rIns="85825" wrap="square" tIns="85825">
            <a:noAutofit/>
          </a:bodyPr>
          <a:lstStyle/>
          <a:p>
            <a:pPr indent="0" lvl="0" marL="0" rtl="0" algn="ctr">
              <a:spcBef>
                <a:spcPts val="0"/>
              </a:spcBef>
              <a:spcAft>
                <a:spcPts val="0"/>
              </a:spcAft>
              <a:buNone/>
            </a:pPr>
            <a:r>
              <a:t/>
            </a:r>
            <a:endParaRPr sz="1314">
              <a:solidFill>
                <a:schemeClr val="lt1"/>
              </a:solidFill>
              <a:latin typeface="Roboto"/>
              <a:ea typeface="Roboto"/>
              <a:cs typeface="Roboto"/>
              <a:sym typeface="Roboto"/>
            </a:endParaRPr>
          </a:p>
        </p:txBody>
      </p:sp>
      <p:sp>
        <p:nvSpPr>
          <p:cNvPr id="112" name="Google Shape;112;p18"/>
          <p:cNvSpPr txBox="1"/>
          <p:nvPr>
            <p:ph idx="1" type="body"/>
          </p:nvPr>
        </p:nvSpPr>
        <p:spPr>
          <a:xfrm>
            <a:off x="5061075" y="1989625"/>
            <a:ext cx="3981300" cy="2089200"/>
          </a:xfrm>
          <a:prstGeom prst="rect">
            <a:avLst/>
          </a:prstGeom>
        </p:spPr>
        <p:txBody>
          <a:bodyPr anchorCtr="0" anchor="t" bIns="85825" lIns="85825" spcFirstLastPara="1" rIns="85825" wrap="square" tIns="85825">
            <a:noAutofit/>
          </a:bodyPr>
          <a:lstStyle/>
          <a:p>
            <a:pPr indent="0" lvl="0" marL="858335" rtl="0" algn="l">
              <a:spcBef>
                <a:spcPts val="0"/>
              </a:spcBef>
              <a:spcAft>
                <a:spcPts val="1502"/>
              </a:spcAft>
              <a:buNone/>
            </a:pPr>
            <a:r>
              <a:rPr b="1" i="1" lang="en" sz="1501">
                <a:solidFill>
                  <a:srgbClr val="FF0000"/>
                </a:solidFill>
                <a:latin typeface="Arial"/>
                <a:ea typeface="Arial"/>
                <a:cs typeface="Arial"/>
                <a:sym typeface="Arial"/>
              </a:rPr>
              <a:t>Research Question: </a:t>
            </a:r>
            <a:r>
              <a:rPr b="1" i="1" lang="en" sz="1501">
                <a:solidFill>
                  <a:srgbClr val="FF0000"/>
                </a:solidFill>
                <a:latin typeface="Arial"/>
                <a:ea typeface="Arial"/>
                <a:cs typeface="Arial"/>
                <a:sym typeface="Arial"/>
              </a:rPr>
              <a:t>T</a:t>
            </a:r>
            <a:r>
              <a:rPr b="1" i="1" lang="en" sz="1501">
                <a:solidFill>
                  <a:srgbClr val="FF0000"/>
                </a:solidFill>
                <a:latin typeface="Arial"/>
                <a:ea typeface="Arial"/>
                <a:cs typeface="Arial"/>
                <a:sym typeface="Arial"/>
              </a:rPr>
              <a:t>ích hợp thông tin khía cạnh vào mô hình mạng đồ thị ngữ nghĩa có giúp cải thiện hiệu quả phát hiện đánh giá giả so với các phương pháp hiện có hay không?</a:t>
            </a:r>
            <a:endParaRPr b="1" sz="1877">
              <a:solidFill>
                <a:srgbClr val="FF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471900" y="57875"/>
            <a:ext cx="8222100" cy="67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Dữ liệu và tiền xử lý</a:t>
            </a:r>
            <a:endParaRPr/>
          </a:p>
        </p:txBody>
      </p:sp>
      <p:sp>
        <p:nvSpPr>
          <p:cNvPr id="118" name="Google Shape;118;p19"/>
          <p:cNvSpPr txBox="1"/>
          <p:nvPr>
            <p:ph idx="1" type="body"/>
          </p:nvPr>
        </p:nvSpPr>
        <p:spPr>
          <a:xfrm>
            <a:off x="81400" y="435950"/>
            <a:ext cx="4215900" cy="2173200"/>
          </a:xfrm>
          <a:prstGeom prst="rect">
            <a:avLst/>
          </a:prstGeom>
        </p:spPr>
        <p:txBody>
          <a:bodyPr anchorCtr="0" anchor="t" bIns="91425" lIns="91425" spcFirstLastPara="1" rIns="91425" wrap="square" tIns="91425">
            <a:noAutofit/>
          </a:bodyPr>
          <a:lstStyle/>
          <a:p>
            <a:pPr indent="-317500" lvl="0" marL="457200" rtl="0" algn="l">
              <a:spcBef>
                <a:spcPts val="3200"/>
              </a:spcBef>
              <a:spcAft>
                <a:spcPts val="0"/>
              </a:spcAft>
              <a:buSzPts val="1400"/>
              <a:buFont typeface="Arial"/>
              <a:buChar char="●"/>
            </a:pPr>
            <a:r>
              <a:rPr b="1" lang="en" sz="1400">
                <a:latin typeface="Arial"/>
                <a:ea typeface="Arial"/>
                <a:cs typeface="Arial"/>
                <a:sym typeface="Arial"/>
              </a:rPr>
              <a:t>Tập dữ liệu:</a:t>
            </a:r>
            <a:endParaRPr b="1"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User (người viết review).</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Bài viết đánh giá</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Review metadata: rating, timestamp, </a:t>
            </a:r>
            <a:r>
              <a:rPr lang="en" sz="1400">
                <a:latin typeface="Arial"/>
                <a:ea typeface="Arial"/>
                <a:cs typeface="Arial"/>
                <a:sym typeface="Arial"/>
              </a:rPr>
              <a:t>Item (kinh doanh, sản phẩm …).</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Label: spam / non-spam</a:t>
            </a:r>
            <a:endParaRPr sz="1800">
              <a:latin typeface="Arial"/>
              <a:ea typeface="Arial"/>
              <a:cs typeface="Arial"/>
              <a:sym typeface="Arial"/>
            </a:endParaRPr>
          </a:p>
        </p:txBody>
      </p:sp>
      <p:cxnSp>
        <p:nvCxnSpPr>
          <p:cNvPr id="119" name="Google Shape;119;p19"/>
          <p:cNvCxnSpPr/>
          <p:nvPr/>
        </p:nvCxnSpPr>
        <p:spPr>
          <a:xfrm>
            <a:off x="1223925" y="2801726"/>
            <a:ext cx="6903900" cy="1200"/>
          </a:xfrm>
          <a:prstGeom prst="straightConnector1">
            <a:avLst/>
          </a:prstGeom>
          <a:noFill/>
          <a:ln cap="flat" cmpd="sng" w="7225">
            <a:solidFill>
              <a:srgbClr val="C00000"/>
            </a:solidFill>
            <a:prstDash val="solid"/>
            <a:miter lim="800000"/>
            <a:headEnd len="med" w="med" type="oval"/>
            <a:tailEnd len="med" w="med" type="oval"/>
          </a:ln>
        </p:spPr>
      </p:cxnSp>
      <p:grpSp>
        <p:nvGrpSpPr>
          <p:cNvPr id="120" name="Google Shape;120;p19"/>
          <p:cNvGrpSpPr/>
          <p:nvPr/>
        </p:nvGrpSpPr>
        <p:grpSpPr>
          <a:xfrm>
            <a:off x="1430546" y="2667139"/>
            <a:ext cx="1649661" cy="269500"/>
            <a:chOff x="1313656" y="5809456"/>
            <a:chExt cx="2166900" cy="354000"/>
          </a:xfrm>
        </p:grpSpPr>
        <p:sp>
          <p:nvSpPr>
            <p:cNvPr id="121" name="Google Shape;121;p19"/>
            <p:cNvSpPr/>
            <p:nvPr/>
          </p:nvSpPr>
          <p:spPr>
            <a:xfrm>
              <a:off x="1313656" y="5809456"/>
              <a:ext cx="2166900" cy="354000"/>
            </a:xfrm>
            <a:prstGeom prst="roundRect">
              <a:avLst>
                <a:gd fmla="val 16667" name="adj"/>
              </a:avLst>
            </a:prstGeom>
            <a:solidFill>
              <a:srgbClr val="92D050"/>
            </a:solidFill>
            <a:ln cap="flat" cmpd="sng" w="7225">
              <a:solidFill>
                <a:srgbClr val="92D050"/>
              </a:solidFill>
              <a:prstDash val="solid"/>
              <a:round/>
              <a:headEnd len="sm" w="sm" type="none"/>
              <a:tailEnd len="sm" w="sm" type="none"/>
            </a:ln>
            <a:effectLst>
              <a:outerShdw blurRad="58016" kx="-1200090" rotWithShape="0" algn="bl" sy="23000">
                <a:srgbClr val="000000">
                  <a:alpha val="20000"/>
                </a:srgbClr>
              </a:outerShdw>
            </a:effectLst>
          </p:spPr>
          <p:txBody>
            <a:bodyPr anchorCtr="0" anchor="ctr" bIns="34800" lIns="69600" spcFirstLastPara="1" rIns="69600" wrap="square" tIns="34800">
              <a:noAutofit/>
            </a:bodyPr>
            <a:lstStyle/>
            <a:p>
              <a:pPr indent="0" lvl="0" marL="0" marR="0" rtl="0" algn="r">
                <a:lnSpc>
                  <a:spcPct val="100000"/>
                </a:lnSpc>
                <a:spcBef>
                  <a:spcPts val="0"/>
                </a:spcBef>
                <a:spcAft>
                  <a:spcPts val="0"/>
                </a:spcAft>
                <a:buClr>
                  <a:srgbClr val="FFFFFF"/>
                </a:buClr>
                <a:buSzPts val="1827"/>
                <a:buFont typeface="Times"/>
                <a:buNone/>
              </a:pPr>
              <a:r>
                <a:t/>
              </a:r>
              <a:endParaRPr b="1" i="0" sz="1827" u="none" cap="none" strike="noStrike">
                <a:solidFill>
                  <a:srgbClr val="F8F8F8"/>
                </a:solidFill>
                <a:latin typeface="Calibri"/>
                <a:ea typeface="Calibri"/>
                <a:cs typeface="Calibri"/>
                <a:sym typeface="Calibri"/>
              </a:endParaRPr>
            </a:p>
          </p:txBody>
        </p:sp>
        <p:sp>
          <p:nvSpPr>
            <p:cNvPr id="122" name="Google Shape;122;p19"/>
            <p:cNvSpPr txBox="1"/>
            <p:nvPr/>
          </p:nvSpPr>
          <p:spPr>
            <a:xfrm>
              <a:off x="1423194" y="5836444"/>
              <a:ext cx="1981200" cy="276900"/>
            </a:xfrm>
            <a:prstGeom prst="rect">
              <a:avLst/>
            </a:prstGeom>
            <a:noFill/>
            <a:ln>
              <a:noFill/>
            </a:ln>
          </p:spPr>
          <p:txBody>
            <a:bodyPr anchorCtr="0" anchor="t" bIns="34800" lIns="69600" spcFirstLastPara="1" rIns="69600" wrap="square" tIns="34800">
              <a:spAutoFit/>
            </a:bodyPr>
            <a:lstStyle/>
            <a:p>
              <a:pPr indent="0" lvl="0" marL="0" marR="0" rtl="0" algn="ctr">
                <a:lnSpc>
                  <a:spcPct val="100000"/>
                </a:lnSpc>
                <a:spcBef>
                  <a:spcPts val="0"/>
                </a:spcBef>
                <a:spcAft>
                  <a:spcPts val="0"/>
                </a:spcAft>
                <a:buClr>
                  <a:srgbClr val="FFFFFF"/>
                </a:buClr>
                <a:buSzPts val="914"/>
                <a:buFont typeface="Arial"/>
                <a:buNone/>
              </a:pPr>
              <a:r>
                <a:rPr lang="en" sz="913">
                  <a:solidFill>
                    <a:srgbClr val="FFFFFF"/>
                  </a:solidFill>
                </a:rPr>
                <a:t>Dữ liệu đầu vào</a:t>
              </a:r>
              <a:endParaRPr sz="1065"/>
            </a:p>
          </p:txBody>
        </p:sp>
      </p:grpSp>
      <p:grpSp>
        <p:nvGrpSpPr>
          <p:cNvPr id="123" name="Google Shape;123;p19"/>
          <p:cNvGrpSpPr/>
          <p:nvPr/>
        </p:nvGrpSpPr>
        <p:grpSpPr>
          <a:xfrm>
            <a:off x="3834366" y="2666965"/>
            <a:ext cx="1682321" cy="270739"/>
            <a:chOff x="4355306" y="5806281"/>
            <a:chExt cx="2209800" cy="354000"/>
          </a:xfrm>
        </p:grpSpPr>
        <p:sp>
          <p:nvSpPr>
            <p:cNvPr id="124" name="Google Shape;124;p19"/>
            <p:cNvSpPr/>
            <p:nvPr/>
          </p:nvSpPr>
          <p:spPr>
            <a:xfrm>
              <a:off x="4355306" y="5806281"/>
              <a:ext cx="2209800" cy="354000"/>
            </a:xfrm>
            <a:prstGeom prst="roundRect">
              <a:avLst>
                <a:gd fmla="val 16667" name="adj"/>
              </a:avLst>
            </a:prstGeom>
            <a:solidFill>
              <a:srgbClr val="92D050"/>
            </a:solidFill>
            <a:ln cap="flat" cmpd="sng" w="7225">
              <a:solidFill>
                <a:srgbClr val="92D050"/>
              </a:solidFill>
              <a:prstDash val="solid"/>
              <a:round/>
              <a:headEnd len="sm" w="sm" type="none"/>
              <a:tailEnd len="sm" w="sm" type="none"/>
            </a:ln>
            <a:effectLst>
              <a:outerShdw blurRad="58016" kx="-1200090" rotWithShape="0" algn="bl" sy="23000">
                <a:srgbClr val="000000">
                  <a:alpha val="20000"/>
                </a:srgbClr>
              </a:outerShdw>
            </a:effectLst>
          </p:spPr>
          <p:txBody>
            <a:bodyPr anchorCtr="0" anchor="ctr" bIns="34800" lIns="69600" spcFirstLastPara="1" rIns="69600" wrap="square" tIns="34800">
              <a:noAutofit/>
            </a:bodyPr>
            <a:lstStyle/>
            <a:p>
              <a:pPr indent="0" lvl="0" marL="0" marR="0" rtl="0" algn="r">
                <a:lnSpc>
                  <a:spcPct val="100000"/>
                </a:lnSpc>
                <a:spcBef>
                  <a:spcPts val="0"/>
                </a:spcBef>
                <a:spcAft>
                  <a:spcPts val="0"/>
                </a:spcAft>
                <a:buClr>
                  <a:srgbClr val="FFFFFF"/>
                </a:buClr>
                <a:buSzPts val="1827"/>
                <a:buFont typeface="Times"/>
                <a:buNone/>
              </a:pPr>
              <a:r>
                <a:t/>
              </a:r>
              <a:endParaRPr b="1" i="0" sz="1827" u="none" cap="none" strike="noStrike">
                <a:solidFill>
                  <a:srgbClr val="F8F8F8"/>
                </a:solidFill>
                <a:latin typeface="Calibri"/>
                <a:ea typeface="Calibri"/>
                <a:cs typeface="Calibri"/>
                <a:sym typeface="Calibri"/>
              </a:endParaRPr>
            </a:p>
          </p:txBody>
        </p:sp>
        <p:sp>
          <p:nvSpPr>
            <p:cNvPr id="125" name="Google Shape;125;p19"/>
            <p:cNvSpPr txBox="1"/>
            <p:nvPr/>
          </p:nvSpPr>
          <p:spPr>
            <a:xfrm>
              <a:off x="4464844" y="5833269"/>
              <a:ext cx="2024100" cy="275700"/>
            </a:xfrm>
            <a:prstGeom prst="rect">
              <a:avLst/>
            </a:prstGeom>
            <a:noFill/>
            <a:ln>
              <a:noFill/>
            </a:ln>
          </p:spPr>
          <p:txBody>
            <a:bodyPr anchorCtr="0" anchor="t" bIns="34800" lIns="69600" spcFirstLastPara="1" rIns="69600" wrap="square" tIns="34800">
              <a:spAutoFit/>
            </a:bodyPr>
            <a:lstStyle/>
            <a:p>
              <a:pPr indent="0" lvl="0" marL="0" marR="0" rtl="0" algn="ctr">
                <a:lnSpc>
                  <a:spcPct val="100000"/>
                </a:lnSpc>
                <a:spcBef>
                  <a:spcPts val="0"/>
                </a:spcBef>
                <a:spcAft>
                  <a:spcPts val="0"/>
                </a:spcAft>
                <a:buClr>
                  <a:srgbClr val="FFFFFF"/>
                </a:buClr>
                <a:buSzPts val="914"/>
                <a:buFont typeface="Arial"/>
                <a:buNone/>
              </a:pPr>
              <a:r>
                <a:rPr lang="en" sz="913">
                  <a:solidFill>
                    <a:srgbClr val="FFFFFF"/>
                  </a:solidFill>
                </a:rPr>
                <a:t>Xử lý &amp; Xây dựng đồ thị</a:t>
              </a:r>
              <a:endParaRPr sz="1065"/>
            </a:p>
          </p:txBody>
        </p:sp>
      </p:grpSp>
      <p:grpSp>
        <p:nvGrpSpPr>
          <p:cNvPr id="126" name="Google Shape;126;p19"/>
          <p:cNvGrpSpPr/>
          <p:nvPr/>
        </p:nvGrpSpPr>
        <p:grpSpPr>
          <a:xfrm>
            <a:off x="6271016" y="2666965"/>
            <a:ext cx="1682321" cy="270739"/>
            <a:chOff x="4355306" y="5806281"/>
            <a:chExt cx="2209800" cy="354000"/>
          </a:xfrm>
        </p:grpSpPr>
        <p:sp>
          <p:nvSpPr>
            <p:cNvPr id="127" name="Google Shape;127;p19"/>
            <p:cNvSpPr/>
            <p:nvPr/>
          </p:nvSpPr>
          <p:spPr>
            <a:xfrm>
              <a:off x="4355306" y="5806281"/>
              <a:ext cx="2209800" cy="354000"/>
            </a:xfrm>
            <a:prstGeom prst="roundRect">
              <a:avLst>
                <a:gd fmla="val 16667" name="adj"/>
              </a:avLst>
            </a:prstGeom>
            <a:solidFill>
              <a:srgbClr val="92D050"/>
            </a:solidFill>
            <a:ln cap="flat" cmpd="sng" w="7225">
              <a:solidFill>
                <a:srgbClr val="92D050"/>
              </a:solidFill>
              <a:prstDash val="solid"/>
              <a:round/>
              <a:headEnd len="sm" w="sm" type="none"/>
              <a:tailEnd len="sm" w="sm" type="none"/>
            </a:ln>
            <a:effectLst>
              <a:outerShdw blurRad="58016" kx="-1200090" rotWithShape="0" algn="bl" sy="23000">
                <a:srgbClr val="000000">
                  <a:alpha val="20000"/>
                </a:srgbClr>
              </a:outerShdw>
            </a:effectLst>
          </p:spPr>
          <p:txBody>
            <a:bodyPr anchorCtr="0" anchor="ctr" bIns="34800" lIns="69600" spcFirstLastPara="1" rIns="69600" wrap="square" tIns="34800">
              <a:noAutofit/>
            </a:bodyPr>
            <a:lstStyle/>
            <a:p>
              <a:pPr indent="0" lvl="0" marL="0" marR="0" rtl="0" algn="r">
                <a:lnSpc>
                  <a:spcPct val="100000"/>
                </a:lnSpc>
                <a:spcBef>
                  <a:spcPts val="0"/>
                </a:spcBef>
                <a:spcAft>
                  <a:spcPts val="0"/>
                </a:spcAft>
                <a:buClr>
                  <a:srgbClr val="FFFFFF"/>
                </a:buClr>
                <a:buSzPts val="1827"/>
                <a:buFont typeface="Times"/>
                <a:buNone/>
              </a:pPr>
              <a:r>
                <a:t/>
              </a:r>
              <a:endParaRPr b="1" i="0" sz="1827" u="none" cap="none" strike="noStrike">
                <a:solidFill>
                  <a:srgbClr val="F8F8F8"/>
                </a:solidFill>
                <a:latin typeface="Calibri"/>
                <a:ea typeface="Calibri"/>
                <a:cs typeface="Calibri"/>
                <a:sym typeface="Calibri"/>
              </a:endParaRPr>
            </a:p>
          </p:txBody>
        </p:sp>
        <p:sp>
          <p:nvSpPr>
            <p:cNvPr id="128" name="Google Shape;128;p19"/>
            <p:cNvSpPr txBox="1"/>
            <p:nvPr/>
          </p:nvSpPr>
          <p:spPr>
            <a:xfrm>
              <a:off x="4464844" y="5833269"/>
              <a:ext cx="2024100" cy="275700"/>
            </a:xfrm>
            <a:prstGeom prst="rect">
              <a:avLst/>
            </a:prstGeom>
            <a:noFill/>
            <a:ln>
              <a:noFill/>
            </a:ln>
          </p:spPr>
          <p:txBody>
            <a:bodyPr anchorCtr="0" anchor="t" bIns="34800" lIns="69600" spcFirstLastPara="1" rIns="69600" wrap="square" tIns="34800">
              <a:spAutoFit/>
            </a:bodyPr>
            <a:lstStyle/>
            <a:p>
              <a:pPr indent="0" lvl="0" marL="0" marR="0" rtl="0" algn="ctr">
                <a:lnSpc>
                  <a:spcPct val="100000"/>
                </a:lnSpc>
                <a:spcBef>
                  <a:spcPts val="0"/>
                </a:spcBef>
                <a:spcAft>
                  <a:spcPts val="0"/>
                </a:spcAft>
                <a:buClr>
                  <a:srgbClr val="FFFFFF"/>
                </a:buClr>
                <a:buSzPts val="914"/>
                <a:buFont typeface="Arial"/>
                <a:buNone/>
              </a:pPr>
              <a:r>
                <a:rPr lang="en" sz="913">
                  <a:solidFill>
                    <a:srgbClr val="FFFFFF"/>
                  </a:solidFill>
                </a:rPr>
                <a:t>Kết quả</a:t>
              </a:r>
              <a:endParaRPr sz="1065"/>
            </a:p>
          </p:txBody>
        </p:sp>
      </p:grpSp>
      <p:grpSp>
        <p:nvGrpSpPr>
          <p:cNvPr id="129" name="Google Shape;129;p19"/>
          <p:cNvGrpSpPr/>
          <p:nvPr/>
        </p:nvGrpSpPr>
        <p:grpSpPr>
          <a:xfrm>
            <a:off x="3312262" y="2714884"/>
            <a:ext cx="290055" cy="174033"/>
            <a:chOff x="3745706" y="5806281"/>
            <a:chExt cx="381000" cy="228600"/>
          </a:xfrm>
        </p:grpSpPr>
        <p:sp>
          <p:nvSpPr>
            <p:cNvPr id="130" name="Google Shape;130;p19"/>
            <p:cNvSpPr/>
            <p:nvPr/>
          </p:nvSpPr>
          <p:spPr>
            <a:xfrm>
              <a:off x="3898106" y="5806281"/>
              <a:ext cx="228600" cy="228600"/>
            </a:xfrm>
            <a:prstGeom prst="chevron">
              <a:avLst>
                <a:gd fmla="val 10800" name="adj"/>
              </a:avLst>
            </a:prstGeom>
            <a:solidFill>
              <a:srgbClr val="BBE0E3"/>
            </a:solidFill>
            <a:ln cap="flat" cmpd="sng" w="7225">
              <a:solidFill>
                <a:srgbClr val="000000"/>
              </a:solidFill>
              <a:prstDash val="solid"/>
              <a:round/>
              <a:headEnd len="sm" w="sm" type="none"/>
              <a:tailEnd len="sm" w="sm" type="none"/>
            </a:ln>
          </p:spPr>
          <p:txBody>
            <a:bodyPr anchorCtr="0" anchor="t" bIns="34800" lIns="69600" spcFirstLastPara="1" rIns="69600" wrap="square" tIns="34800">
              <a:noAutofit/>
            </a:bodyPr>
            <a:lstStyle/>
            <a:p>
              <a:pPr indent="0" lvl="0" marL="0" marR="0" rtl="0" algn="l">
                <a:lnSpc>
                  <a:spcPct val="100000"/>
                </a:lnSpc>
                <a:spcBef>
                  <a:spcPts val="0"/>
                </a:spcBef>
                <a:spcAft>
                  <a:spcPts val="0"/>
                </a:spcAft>
                <a:buNone/>
              </a:pPr>
              <a:r>
                <a:t/>
              </a:r>
              <a:endParaRPr b="0" i="0" sz="1827" u="none">
                <a:solidFill>
                  <a:srgbClr val="000000"/>
                </a:solidFill>
                <a:latin typeface="Times"/>
                <a:ea typeface="Times"/>
                <a:cs typeface="Times"/>
                <a:sym typeface="Times"/>
              </a:endParaRPr>
            </a:p>
          </p:txBody>
        </p:sp>
        <p:sp>
          <p:nvSpPr>
            <p:cNvPr id="131" name="Google Shape;131;p19"/>
            <p:cNvSpPr/>
            <p:nvPr/>
          </p:nvSpPr>
          <p:spPr>
            <a:xfrm>
              <a:off x="3745706" y="5806281"/>
              <a:ext cx="228600" cy="228600"/>
            </a:xfrm>
            <a:prstGeom prst="chevron">
              <a:avLst>
                <a:gd fmla="val 10800" name="adj"/>
              </a:avLst>
            </a:prstGeom>
            <a:solidFill>
              <a:srgbClr val="BBE0E3"/>
            </a:solidFill>
            <a:ln cap="flat" cmpd="sng" w="7225">
              <a:solidFill>
                <a:srgbClr val="000000"/>
              </a:solidFill>
              <a:prstDash val="solid"/>
              <a:round/>
              <a:headEnd len="sm" w="sm" type="none"/>
              <a:tailEnd len="sm" w="sm" type="none"/>
            </a:ln>
          </p:spPr>
          <p:txBody>
            <a:bodyPr anchorCtr="0" anchor="t" bIns="34800" lIns="69600" spcFirstLastPara="1" rIns="69600" wrap="square" tIns="34800">
              <a:noAutofit/>
            </a:bodyPr>
            <a:lstStyle/>
            <a:p>
              <a:pPr indent="0" lvl="0" marL="0" marR="0" rtl="0" algn="l">
                <a:lnSpc>
                  <a:spcPct val="100000"/>
                </a:lnSpc>
                <a:spcBef>
                  <a:spcPts val="0"/>
                </a:spcBef>
                <a:spcAft>
                  <a:spcPts val="0"/>
                </a:spcAft>
                <a:buNone/>
              </a:pPr>
              <a:r>
                <a:t/>
              </a:r>
              <a:endParaRPr b="0" i="0" sz="1827" u="none">
                <a:solidFill>
                  <a:srgbClr val="000000"/>
                </a:solidFill>
                <a:latin typeface="Times"/>
                <a:ea typeface="Times"/>
                <a:cs typeface="Times"/>
                <a:sym typeface="Times"/>
              </a:endParaRPr>
            </a:p>
          </p:txBody>
        </p:sp>
      </p:grpSp>
      <p:grpSp>
        <p:nvGrpSpPr>
          <p:cNvPr id="132" name="Google Shape;132;p19"/>
          <p:cNvGrpSpPr/>
          <p:nvPr/>
        </p:nvGrpSpPr>
        <p:grpSpPr>
          <a:xfrm>
            <a:off x="5748921" y="2714884"/>
            <a:ext cx="290055" cy="174033"/>
            <a:chOff x="3745706" y="5806281"/>
            <a:chExt cx="381000" cy="228600"/>
          </a:xfrm>
        </p:grpSpPr>
        <p:sp>
          <p:nvSpPr>
            <p:cNvPr id="133" name="Google Shape;133;p19"/>
            <p:cNvSpPr/>
            <p:nvPr/>
          </p:nvSpPr>
          <p:spPr>
            <a:xfrm>
              <a:off x="3898106" y="5806281"/>
              <a:ext cx="228600" cy="228600"/>
            </a:xfrm>
            <a:prstGeom prst="chevron">
              <a:avLst>
                <a:gd fmla="val 10800" name="adj"/>
              </a:avLst>
            </a:prstGeom>
            <a:solidFill>
              <a:srgbClr val="BBE0E3"/>
            </a:solidFill>
            <a:ln cap="flat" cmpd="sng" w="7225">
              <a:solidFill>
                <a:srgbClr val="000000"/>
              </a:solidFill>
              <a:prstDash val="solid"/>
              <a:round/>
              <a:headEnd len="sm" w="sm" type="none"/>
              <a:tailEnd len="sm" w="sm" type="none"/>
            </a:ln>
          </p:spPr>
          <p:txBody>
            <a:bodyPr anchorCtr="0" anchor="t" bIns="34800" lIns="69600" spcFirstLastPara="1" rIns="69600" wrap="square" tIns="34800">
              <a:noAutofit/>
            </a:bodyPr>
            <a:lstStyle/>
            <a:p>
              <a:pPr indent="0" lvl="0" marL="0" marR="0" rtl="0" algn="l">
                <a:lnSpc>
                  <a:spcPct val="100000"/>
                </a:lnSpc>
                <a:spcBef>
                  <a:spcPts val="0"/>
                </a:spcBef>
                <a:spcAft>
                  <a:spcPts val="0"/>
                </a:spcAft>
                <a:buNone/>
              </a:pPr>
              <a:r>
                <a:t/>
              </a:r>
              <a:endParaRPr b="0" i="0" sz="1827" u="none">
                <a:solidFill>
                  <a:srgbClr val="000000"/>
                </a:solidFill>
                <a:latin typeface="Times"/>
                <a:ea typeface="Times"/>
                <a:cs typeface="Times"/>
                <a:sym typeface="Times"/>
              </a:endParaRPr>
            </a:p>
          </p:txBody>
        </p:sp>
        <p:sp>
          <p:nvSpPr>
            <p:cNvPr id="134" name="Google Shape;134;p19"/>
            <p:cNvSpPr/>
            <p:nvPr/>
          </p:nvSpPr>
          <p:spPr>
            <a:xfrm>
              <a:off x="3745706" y="5806281"/>
              <a:ext cx="228600" cy="228600"/>
            </a:xfrm>
            <a:prstGeom prst="chevron">
              <a:avLst>
                <a:gd fmla="val 10800" name="adj"/>
              </a:avLst>
            </a:prstGeom>
            <a:solidFill>
              <a:srgbClr val="BBE0E3"/>
            </a:solidFill>
            <a:ln cap="flat" cmpd="sng" w="7225">
              <a:solidFill>
                <a:srgbClr val="000000"/>
              </a:solidFill>
              <a:prstDash val="solid"/>
              <a:round/>
              <a:headEnd len="sm" w="sm" type="none"/>
              <a:tailEnd len="sm" w="sm" type="none"/>
            </a:ln>
          </p:spPr>
          <p:txBody>
            <a:bodyPr anchorCtr="0" anchor="t" bIns="34800" lIns="69600" spcFirstLastPara="1" rIns="69600" wrap="square" tIns="34800">
              <a:noAutofit/>
            </a:bodyPr>
            <a:lstStyle/>
            <a:p>
              <a:pPr indent="0" lvl="0" marL="0" marR="0" rtl="0" algn="l">
                <a:lnSpc>
                  <a:spcPct val="100000"/>
                </a:lnSpc>
                <a:spcBef>
                  <a:spcPts val="0"/>
                </a:spcBef>
                <a:spcAft>
                  <a:spcPts val="0"/>
                </a:spcAft>
                <a:buNone/>
              </a:pPr>
              <a:r>
                <a:t/>
              </a:r>
              <a:endParaRPr b="0" i="0" sz="1827" u="none">
                <a:solidFill>
                  <a:srgbClr val="000000"/>
                </a:solidFill>
                <a:latin typeface="Times"/>
                <a:ea typeface="Times"/>
                <a:cs typeface="Times"/>
                <a:sym typeface="Times"/>
              </a:endParaRPr>
            </a:p>
          </p:txBody>
        </p:sp>
      </p:grpSp>
      <p:pic>
        <p:nvPicPr>
          <p:cNvPr id="135" name="Google Shape;135;p19"/>
          <p:cNvPicPr preferRelativeResize="0"/>
          <p:nvPr/>
        </p:nvPicPr>
        <p:blipFill>
          <a:blip r:embed="rId3">
            <a:alphaModFix/>
          </a:blip>
          <a:stretch>
            <a:fillRect/>
          </a:stretch>
        </p:blipFill>
        <p:spPr>
          <a:xfrm>
            <a:off x="1811953" y="2964069"/>
            <a:ext cx="887145" cy="1654623"/>
          </a:xfrm>
          <a:prstGeom prst="rect">
            <a:avLst/>
          </a:prstGeom>
          <a:noFill/>
          <a:ln>
            <a:noFill/>
          </a:ln>
        </p:spPr>
      </p:pic>
      <p:pic>
        <p:nvPicPr>
          <p:cNvPr id="136" name="Google Shape;136;p19"/>
          <p:cNvPicPr preferRelativeResize="0"/>
          <p:nvPr/>
        </p:nvPicPr>
        <p:blipFill>
          <a:blip r:embed="rId4">
            <a:alphaModFix/>
          </a:blip>
          <a:stretch>
            <a:fillRect/>
          </a:stretch>
        </p:blipFill>
        <p:spPr>
          <a:xfrm>
            <a:off x="4012254" y="2975717"/>
            <a:ext cx="1387645" cy="1654624"/>
          </a:xfrm>
          <a:prstGeom prst="rect">
            <a:avLst/>
          </a:prstGeom>
          <a:noFill/>
          <a:ln>
            <a:noFill/>
          </a:ln>
        </p:spPr>
      </p:pic>
      <p:pic>
        <p:nvPicPr>
          <p:cNvPr id="137" name="Google Shape;137;p19"/>
          <p:cNvPicPr preferRelativeResize="0"/>
          <p:nvPr/>
        </p:nvPicPr>
        <p:blipFill>
          <a:blip r:embed="rId5">
            <a:alphaModFix/>
          </a:blip>
          <a:stretch>
            <a:fillRect/>
          </a:stretch>
        </p:blipFill>
        <p:spPr>
          <a:xfrm>
            <a:off x="6754933" y="2964545"/>
            <a:ext cx="830998" cy="1355096"/>
          </a:xfrm>
          <a:prstGeom prst="rect">
            <a:avLst/>
          </a:prstGeom>
          <a:noFill/>
          <a:ln>
            <a:noFill/>
          </a:ln>
        </p:spPr>
      </p:pic>
      <p:sp>
        <p:nvSpPr>
          <p:cNvPr id="138" name="Google Shape;138;p19"/>
          <p:cNvSpPr/>
          <p:nvPr/>
        </p:nvSpPr>
        <p:spPr>
          <a:xfrm>
            <a:off x="6434165" y="4354879"/>
            <a:ext cx="1472700" cy="351300"/>
          </a:xfrm>
          <a:prstGeom prst="roundRect">
            <a:avLst>
              <a:gd fmla="val 16667" name="adj"/>
            </a:avLst>
          </a:prstGeom>
          <a:solidFill>
            <a:srgbClr val="FFFFFF"/>
          </a:solidFill>
          <a:ln cap="flat" cmpd="sng" w="7225">
            <a:solidFill>
              <a:srgbClr val="000000"/>
            </a:solidFill>
            <a:prstDash val="solid"/>
            <a:round/>
            <a:headEnd len="sm" w="sm" type="none"/>
            <a:tailEnd len="sm" w="sm" type="none"/>
          </a:ln>
        </p:spPr>
        <p:txBody>
          <a:bodyPr anchorCtr="0" anchor="ctr" bIns="69600" lIns="69600" spcFirstLastPara="1" rIns="69600" wrap="square" tIns="69600">
            <a:noAutofit/>
          </a:bodyPr>
          <a:lstStyle/>
          <a:p>
            <a:pPr indent="0" lvl="0" marL="0" rtl="0" algn="ctr">
              <a:spcBef>
                <a:spcPts val="0"/>
              </a:spcBef>
              <a:spcAft>
                <a:spcPts val="0"/>
              </a:spcAft>
              <a:buNone/>
            </a:pPr>
            <a:r>
              <a:rPr b="1" lang="en" sz="609" u="sng">
                <a:solidFill>
                  <a:srgbClr val="C00000"/>
                </a:solidFill>
              </a:rPr>
              <a:t>Giải thích</a:t>
            </a:r>
            <a:r>
              <a:rPr lang="en" sz="609">
                <a:solidFill>
                  <a:srgbClr val="C00000"/>
                </a:solidFill>
              </a:rPr>
              <a:t> : Hệ thống phát mâu thuẫn </a:t>
            </a:r>
            <a:endParaRPr sz="609">
              <a:solidFill>
                <a:srgbClr val="C00000"/>
              </a:solidFill>
            </a:endParaRPr>
          </a:p>
          <a:p>
            <a:pPr indent="0" lvl="0" marL="0" rtl="0" algn="ctr">
              <a:spcBef>
                <a:spcPts val="0"/>
              </a:spcBef>
              <a:spcAft>
                <a:spcPts val="0"/>
              </a:spcAft>
              <a:buNone/>
            </a:pPr>
            <a:r>
              <a:rPr lang="en" sz="609">
                <a:solidFill>
                  <a:srgbClr val="C00000"/>
                </a:solidFill>
              </a:rPr>
              <a:t>giữa cảm xúc khía cạnh </a:t>
            </a:r>
            <a:r>
              <a:rPr b="1" i="1" lang="en" sz="609">
                <a:solidFill>
                  <a:srgbClr val="C00000"/>
                </a:solidFill>
              </a:rPr>
              <a:t>(Aspect: Food - tệ và Rating - 5 sao) </a:t>
            </a:r>
            <a:endParaRPr b="1" i="1" sz="609">
              <a:solidFill>
                <a:srgbClr val="C00000"/>
              </a:solidFill>
            </a:endParaRPr>
          </a:p>
        </p:txBody>
      </p:sp>
      <p:sp>
        <p:nvSpPr>
          <p:cNvPr id="139" name="Google Shape;139;p19"/>
          <p:cNvSpPr txBox="1"/>
          <p:nvPr>
            <p:ph idx="1" type="body"/>
          </p:nvPr>
        </p:nvSpPr>
        <p:spPr>
          <a:xfrm>
            <a:off x="3998700" y="493000"/>
            <a:ext cx="4919100" cy="2730000"/>
          </a:xfrm>
          <a:prstGeom prst="rect">
            <a:avLst/>
          </a:prstGeom>
        </p:spPr>
        <p:txBody>
          <a:bodyPr anchorCtr="0" anchor="t" bIns="91425" lIns="91425" spcFirstLastPara="1" rIns="91425" wrap="square" tIns="91425">
            <a:noAutofit/>
          </a:bodyPr>
          <a:lstStyle/>
          <a:p>
            <a:pPr indent="-317500" lvl="0" marL="457200" rtl="0" algn="l">
              <a:spcBef>
                <a:spcPts val="3200"/>
              </a:spcBef>
              <a:spcAft>
                <a:spcPts val="0"/>
              </a:spcAft>
              <a:buSzPts val="1400"/>
              <a:buFont typeface="Arial"/>
              <a:buChar char="●"/>
            </a:pPr>
            <a:r>
              <a:rPr b="1" lang="en" sz="1400">
                <a:latin typeface="Arial"/>
                <a:ea typeface="Arial"/>
                <a:cs typeface="Arial"/>
                <a:sym typeface="Arial"/>
              </a:rPr>
              <a:t>Aspect terms trích xuất từ nội dung review bằng:</a:t>
            </a:r>
            <a:endParaRPr b="1"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Rule-based patterns hoặc </a:t>
            </a:r>
            <a:r>
              <a:rPr lang="en" sz="1400">
                <a:latin typeface="Arial"/>
                <a:ea typeface="Arial"/>
                <a:cs typeface="Arial"/>
                <a:sym typeface="Arial"/>
              </a:rPr>
              <a:t>từ</a:t>
            </a:r>
            <a:r>
              <a:rPr lang="en" sz="1400">
                <a:latin typeface="Arial"/>
                <a:ea typeface="Arial"/>
                <a:cs typeface="Arial"/>
                <a:sym typeface="Arial"/>
              </a:rPr>
              <a:t> các mô hình trích xuất khía cạnh được huấn luyện sẵn. (</a:t>
            </a:r>
            <a:r>
              <a:rPr lang="en" sz="1400">
                <a:latin typeface="Arial"/>
                <a:ea typeface="Arial"/>
                <a:cs typeface="Arial"/>
                <a:sym typeface="Arial"/>
              </a:rPr>
              <a:t>pyABSA)</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Sentiment theo từng aspect (</a:t>
            </a:r>
            <a:r>
              <a:rPr lang="en" sz="1400">
                <a:latin typeface="Arial"/>
                <a:ea typeface="Arial"/>
                <a:cs typeface="Arial"/>
                <a:sym typeface="Arial"/>
              </a:rPr>
              <a:t>tích cực/ tiêu cực</a:t>
            </a:r>
            <a:r>
              <a:rPr lang="en" sz="1400">
                <a:latin typeface="Arial"/>
                <a:ea typeface="Arial"/>
                <a:cs typeface="Arial"/>
                <a:sym typeface="Arial"/>
              </a:rPr>
              <a:t>).</a:t>
            </a:r>
            <a:endParaRPr sz="1400">
              <a:latin typeface="Arial"/>
              <a:ea typeface="Arial"/>
              <a:cs typeface="Arial"/>
              <a:sym typeface="Arial"/>
            </a:endParaRPr>
          </a:p>
          <a:p>
            <a:pPr indent="-317500" lvl="1" marL="914400" rtl="0" algn="l">
              <a:spcBef>
                <a:spcPts val="0"/>
              </a:spcBef>
              <a:spcAft>
                <a:spcPts val="0"/>
              </a:spcAft>
              <a:buSzPts val="1400"/>
              <a:buFont typeface="Arial"/>
              <a:buChar char="○"/>
            </a:pPr>
            <a:r>
              <a:rPr lang="en" sz="1400">
                <a:latin typeface="Arial"/>
                <a:ea typeface="Arial"/>
                <a:cs typeface="Arial"/>
                <a:sym typeface="Arial"/>
              </a:rPr>
              <a:t>Đưa aspect về các nhãn tổng quát.</a:t>
            </a:r>
            <a:endParaRPr sz="1400">
              <a:latin typeface="Arial"/>
              <a:ea typeface="Arial"/>
              <a:cs typeface="Arial"/>
              <a:sym typeface="Arial"/>
            </a:endParaRPr>
          </a:p>
          <a:p>
            <a:pPr indent="-317500" lvl="0" marL="457200" rtl="0" algn="l">
              <a:spcBef>
                <a:spcPts val="0"/>
              </a:spcBef>
              <a:spcAft>
                <a:spcPts val="0"/>
              </a:spcAft>
              <a:buSzPts val="1400"/>
              <a:buFont typeface="Arial"/>
              <a:buChar char="●"/>
            </a:pPr>
            <a:r>
              <a:rPr b="1" lang="en" sz="1400">
                <a:latin typeface="Arial"/>
                <a:ea typeface="Arial"/>
                <a:cs typeface="Arial"/>
                <a:sym typeface="Arial"/>
              </a:rPr>
              <a:t>Aspect embedding: </a:t>
            </a:r>
            <a:r>
              <a:rPr lang="en" sz="1400">
                <a:latin typeface="Arial"/>
                <a:ea typeface="Arial"/>
                <a:cs typeface="Arial"/>
                <a:sym typeface="Arial"/>
              </a:rPr>
              <a:t>embedding </a:t>
            </a:r>
            <a:r>
              <a:rPr lang="en" sz="1400">
                <a:latin typeface="Arial"/>
                <a:ea typeface="Arial"/>
                <a:cs typeface="Arial"/>
                <a:sym typeface="Arial"/>
              </a:rPr>
              <a:t>từ </a:t>
            </a:r>
            <a:r>
              <a:rPr lang="en" sz="1400">
                <a:latin typeface="Arial"/>
                <a:ea typeface="Arial"/>
                <a:cs typeface="Arial"/>
                <a:sym typeface="Arial"/>
              </a:rPr>
              <a:t>BERT / GloVe</a:t>
            </a:r>
            <a:endParaRPr sz="18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nvSpPr>
        <p:spPr>
          <a:xfrm>
            <a:off x="54600" y="723725"/>
            <a:ext cx="9089400" cy="41175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0"/>
              </a:spcAft>
              <a:buSzPts val="1200"/>
              <a:buChar char="●"/>
            </a:pPr>
            <a:r>
              <a:rPr b="1" lang="en"/>
              <a:t>Bước 1: Trích xuất và chuẩn hóa Aspect</a:t>
            </a:r>
            <a:endParaRPr b="1"/>
          </a:p>
          <a:p>
            <a:pPr indent="-304800" lvl="1" marL="914400" rtl="0" algn="l">
              <a:lnSpc>
                <a:spcPct val="115000"/>
              </a:lnSpc>
              <a:spcBef>
                <a:spcPts val="0"/>
              </a:spcBef>
              <a:spcAft>
                <a:spcPts val="0"/>
              </a:spcAft>
              <a:buSzPts val="1200"/>
              <a:buChar char="○"/>
            </a:pPr>
            <a:r>
              <a:rPr lang="en"/>
              <a:t>Trích xuất các aspect terms và sentiment.</a:t>
            </a:r>
            <a:endParaRPr/>
          </a:p>
          <a:p>
            <a:pPr indent="-304800" lvl="1" marL="914400" rtl="0" algn="l">
              <a:lnSpc>
                <a:spcPct val="115000"/>
              </a:lnSpc>
              <a:spcBef>
                <a:spcPts val="0"/>
              </a:spcBef>
              <a:spcAft>
                <a:spcPts val="0"/>
              </a:spcAft>
              <a:buSzPts val="1200"/>
              <a:buChar char="○"/>
            </a:pPr>
            <a:r>
              <a:rPr lang="en"/>
              <a:t>Chuyển đổi aspect về nhóm khái niệm tổng quát</a:t>
            </a:r>
            <a:r>
              <a:rPr lang="en"/>
              <a:t> (service_pos, food_neg, …)</a:t>
            </a:r>
            <a:endParaRPr/>
          </a:p>
          <a:p>
            <a:pPr indent="-304800" lvl="1" marL="914400" rtl="0" algn="l">
              <a:lnSpc>
                <a:spcPct val="115000"/>
              </a:lnSpc>
              <a:spcBef>
                <a:spcPts val="0"/>
              </a:spcBef>
              <a:spcAft>
                <a:spcPts val="0"/>
              </a:spcAft>
              <a:buSzPts val="1200"/>
              <a:buChar char="○"/>
            </a:pPr>
            <a:r>
              <a:rPr lang="en"/>
              <a:t>Tạo aspect nodes để gắn với review node.</a:t>
            </a:r>
            <a:endParaRPr b="1"/>
          </a:p>
          <a:p>
            <a:pPr indent="-304800" lvl="0" marL="457200" rtl="0" algn="l">
              <a:lnSpc>
                <a:spcPct val="115000"/>
              </a:lnSpc>
              <a:spcBef>
                <a:spcPts val="0"/>
              </a:spcBef>
              <a:spcAft>
                <a:spcPts val="0"/>
              </a:spcAft>
              <a:buSzPts val="1200"/>
              <a:buChar char="●"/>
            </a:pPr>
            <a:r>
              <a:rPr b="1" lang="en"/>
              <a:t>Bước 2: Xây dựng Đồ thị</a:t>
            </a:r>
            <a:endParaRPr b="1"/>
          </a:p>
          <a:p>
            <a:pPr indent="-304800" lvl="1" marL="914400" rtl="0" algn="l">
              <a:lnSpc>
                <a:spcPct val="115000"/>
              </a:lnSpc>
              <a:spcBef>
                <a:spcPts val="0"/>
              </a:spcBef>
              <a:spcAft>
                <a:spcPts val="0"/>
              </a:spcAft>
              <a:buSzPts val="1200"/>
              <a:buChar char="○"/>
            </a:pPr>
            <a:r>
              <a:rPr lang="en"/>
              <a:t>Các node: User, Item, Review, </a:t>
            </a:r>
            <a:r>
              <a:rPr lang="en"/>
              <a:t>Aspect.</a:t>
            </a:r>
            <a:endParaRPr/>
          </a:p>
          <a:p>
            <a:pPr indent="-304800" lvl="1" marL="914400" rtl="0" algn="l">
              <a:lnSpc>
                <a:spcPct val="115000"/>
              </a:lnSpc>
              <a:spcBef>
                <a:spcPts val="0"/>
              </a:spcBef>
              <a:spcAft>
                <a:spcPts val="0"/>
              </a:spcAft>
              <a:buSzPts val="1200"/>
              <a:buChar char="○"/>
            </a:pPr>
            <a:r>
              <a:rPr lang="en"/>
              <a:t>Các quan hệ: User → Review, Review → Item, Review → Aspect, Item → Aspect…</a:t>
            </a:r>
            <a:endParaRPr/>
          </a:p>
          <a:p>
            <a:pPr indent="-304800" lvl="0" marL="457200" rtl="0" algn="l">
              <a:lnSpc>
                <a:spcPct val="115000"/>
              </a:lnSpc>
              <a:spcBef>
                <a:spcPts val="0"/>
              </a:spcBef>
              <a:spcAft>
                <a:spcPts val="0"/>
              </a:spcAft>
              <a:buSzPts val="1200"/>
              <a:buChar char="●"/>
            </a:pPr>
            <a:r>
              <a:rPr b="1" lang="en"/>
              <a:t>Bước 3: Biểu diễn Node</a:t>
            </a:r>
            <a:endParaRPr b="1"/>
          </a:p>
          <a:p>
            <a:pPr indent="-304800" lvl="1" marL="914400" rtl="0" algn="l">
              <a:lnSpc>
                <a:spcPct val="115000"/>
              </a:lnSpc>
              <a:spcBef>
                <a:spcPts val="0"/>
              </a:spcBef>
              <a:spcAft>
                <a:spcPts val="0"/>
              </a:spcAft>
              <a:buSzPts val="1200"/>
              <a:buChar char="○"/>
            </a:pPr>
            <a:r>
              <a:rPr lang="en"/>
              <a:t>User / Item: </a:t>
            </a:r>
            <a:r>
              <a:rPr lang="en"/>
              <a:t>đặc trưng hành vi đơn giản + embedding học được.</a:t>
            </a:r>
            <a:endParaRPr/>
          </a:p>
          <a:p>
            <a:pPr indent="-304800" lvl="1" marL="914400" rtl="0" algn="l">
              <a:lnSpc>
                <a:spcPct val="115000"/>
              </a:lnSpc>
              <a:spcBef>
                <a:spcPts val="0"/>
              </a:spcBef>
              <a:spcAft>
                <a:spcPts val="0"/>
              </a:spcAft>
              <a:buSzPts val="1200"/>
              <a:buChar char="○"/>
            </a:pPr>
            <a:r>
              <a:rPr lang="en"/>
              <a:t>Review: embedding từ </a:t>
            </a:r>
            <a:r>
              <a:rPr lang="en"/>
              <a:t>mô hình ngôn ngữ như BERT.</a:t>
            </a:r>
            <a:endParaRPr/>
          </a:p>
          <a:p>
            <a:pPr indent="-304800" lvl="1" marL="914400" rtl="0" algn="l">
              <a:lnSpc>
                <a:spcPct val="115000"/>
              </a:lnSpc>
              <a:spcBef>
                <a:spcPts val="0"/>
              </a:spcBef>
              <a:spcAft>
                <a:spcPts val="0"/>
              </a:spcAft>
              <a:buSzPts val="1200"/>
              <a:buChar char="○"/>
            </a:pPr>
            <a:r>
              <a:rPr lang="en"/>
              <a:t>Aspect: dùng embedding của token (GloVe) hoặc </a:t>
            </a:r>
            <a:r>
              <a:rPr lang="en"/>
              <a:t>tổng hợp</a:t>
            </a:r>
            <a:r>
              <a:rPr lang="en"/>
              <a:t> embedding.</a:t>
            </a:r>
            <a:endParaRPr/>
          </a:p>
          <a:p>
            <a:pPr indent="-304800" lvl="0" marL="457200" rtl="0" algn="l">
              <a:lnSpc>
                <a:spcPct val="115000"/>
              </a:lnSpc>
              <a:spcBef>
                <a:spcPts val="0"/>
              </a:spcBef>
              <a:spcAft>
                <a:spcPts val="0"/>
              </a:spcAft>
              <a:buSzPts val="1200"/>
              <a:buChar char="●"/>
            </a:pPr>
            <a:r>
              <a:rPr b="1" lang="en"/>
              <a:t>Bước 4: Heterogeneous Graph Neural Network</a:t>
            </a:r>
            <a:endParaRPr b="1"/>
          </a:p>
          <a:p>
            <a:pPr indent="-304800" lvl="1" marL="914400" rtl="0" algn="l">
              <a:lnSpc>
                <a:spcPct val="115000"/>
              </a:lnSpc>
              <a:spcBef>
                <a:spcPts val="0"/>
              </a:spcBef>
              <a:spcAft>
                <a:spcPts val="0"/>
              </a:spcAft>
              <a:buSzPts val="1200"/>
              <a:buChar char="○"/>
            </a:pPr>
            <a:r>
              <a:rPr lang="en"/>
              <a:t>Sử dụng mạng đồ thị dị thể để xử lý nhiều loại nút và quan hệ, đồng thời học trọng số cho từng loại quan hệ.</a:t>
            </a:r>
            <a:endParaRPr/>
          </a:p>
          <a:p>
            <a:pPr indent="-304800" lvl="0" marL="457200" rtl="0" algn="l">
              <a:lnSpc>
                <a:spcPct val="115000"/>
              </a:lnSpc>
              <a:spcBef>
                <a:spcPts val="0"/>
              </a:spcBef>
              <a:spcAft>
                <a:spcPts val="0"/>
              </a:spcAft>
              <a:buSzPts val="1200"/>
              <a:buChar char="●"/>
            </a:pPr>
            <a:r>
              <a:rPr b="1" lang="en"/>
              <a:t>Bước 5: Lớp Phân Loại</a:t>
            </a:r>
            <a:endParaRPr b="1"/>
          </a:p>
          <a:p>
            <a:pPr indent="-304800" lvl="1" marL="914400" rtl="0" algn="l">
              <a:lnSpc>
                <a:spcPct val="115000"/>
              </a:lnSpc>
              <a:spcBef>
                <a:spcPts val="0"/>
              </a:spcBef>
              <a:spcAft>
                <a:spcPts val="0"/>
              </a:spcAft>
              <a:buSzPts val="1200"/>
              <a:buChar char="○"/>
            </a:pPr>
            <a:r>
              <a:rPr lang="en"/>
              <a:t>Embedding của review từ </a:t>
            </a:r>
            <a:r>
              <a:rPr lang="en"/>
              <a:t>đồ thị</a:t>
            </a:r>
            <a:r>
              <a:rPr lang="en"/>
              <a:t> → MLP để phân </a:t>
            </a:r>
            <a:r>
              <a:rPr lang="en"/>
              <a:t>loại.</a:t>
            </a:r>
            <a:endParaRPr/>
          </a:p>
        </p:txBody>
      </p:sp>
      <p:sp>
        <p:nvSpPr>
          <p:cNvPr id="145" name="Google Shape;145;p20"/>
          <p:cNvSpPr txBox="1"/>
          <p:nvPr>
            <p:ph type="title"/>
          </p:nvPr>
        </p:nvSpPr>
        <p:spPr>
          <a:xfrm>
            <a:off x="471900" y="0"/>
            <a:ext cx="8222100" cy="68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Phương pháp</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471900" y="0"/>
            <a:ext cx="8222100" cy="72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Kết quả dự kiến</a:t>
            </a:r>
            <a:endParaRPr/>
          </a:p>
        </p:txBody>
      </p:sp>
      <p:sp>
        <p:nvSpPr>
          <p:cNvPr id="151" name="Google Shape;151;p21"/>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None/>
            </a:pPr>
            <a:r>
              <a:rPr b="1" lang="en" sz="1700">
                <a:latin typeface="Arial"/>
                <a:ea typeface="Arial"/>
                <a:cs typeface="Arial"/>
                <a:sym typeface="Arial"/>
              </a:rPr>
              <a:t>Phương pháp đánh giá:</a:t>
            </a:r>
            <a:endParaRPr b="1" sz="1700">
              <a:latin typeface="Arial"/>
              <a:ea typeface="Arial"/>
              <a:cs typeface="Arial"/>
              <a:sym typeface="Arial"/>
            </a:endParaRPr>
          </a:p>
          <a:p>
            <a:pPr indent="-336550" lvl="0" marL="457200" rtl="0" algn="just">
              <a:spcBef>
                <a:spcPts val="1200"/>
              </a:spcBef>
              <a:spcAft>
                <a:spcPts val="0"/>
              </a:spcAft>
              <a:buSzPts val="1700"/>
              <a:buFont typeface="Arial"/>
              <a:buChar char="●"/>
            </a:pPr>
            <a:r>
              <a:rPr lang="en" sz="1700">
                <a:latin typeface="Arial"/>
                <a:ea typeface="Arial"/>
                <a:cs typeface="Arial"/>
                <a:sym typeface="Arial"/>
              </a:rPr>
              <a:t>Sử dụng các dataset </a:t>
            </a:r>
            <a:r>
              <a:rPr lang="en" sz="1700">
                <a:latin typeface="Arial"/>
                <a:ea typeface="Arial"/>
                <a:cs typeface="Arial"/>
                <a:sym typeface="Arial"/>
              </a:rPr>
              <a:t>chuẩn</a:t>
            </a:r>
            <a:r>
              <a:rPr lang="en" sz="1700">
                <a:latin typeface="Arial"/>
                <a:ea typeface="Arial"/>
                <a:cs typeface="Arial"/>
                <a:sym typeface="Arial"/>
              </a:rPr>
              <a:t> cho bài toán Fake Review Detection (</a:t>
            </a:r>
            <a:r>
              <a:rPr lang="en" sz="1700">
                <a:latin typeface="Arial"/>
                <a:ea typeface="Arial"/>
                <a:cs typeface="Arial"/>
                <a:sym typeface="Arial"/>
              </a:rPr>
              <a:t>VD: YelpChi)</a:t>
            </a:r>
            <a:endParaRPr sz="1700">
              <a:latin typeface="Arial"/>
              <a:ea typeface="Arial"/>
              <a:cs typeface="Arial"/>
              <a:sym typeface="Arial"/>
            </a:endParaRPr>
          </a:p>
          <a:p>
            <a:pPr indent="-336550" lvl="0" marL="457200" rtl="0" algn="just">
              <a:spcBef>
                <a:spcPts val="0"/>
              </a:spcBef>
              <a:spcAft>
                <a:spcPts val="0"/>
              </a:spcAft>
              <a:buSzPts val="1700"/>
              <a:buFont typeface="Arial"/>
              <a:buChar char="●"/>
            </a:pPr>
            <a:r>
              <a:rPr lang="en" sz="1700">
                <a:latin typeface="Arial"/>
                <a:ea typeface="Arial"/>
                <a:cs typeface="Arial"/>
                <a:sym typeface="Arial"/>
              </a:rPr>
              <a:t>Đánh giá bằng: Accuracy, Precision, Recall, F1-score.</a:t>
            </a:r>
            <a:endParaRPr sz="1700">
              <a:latin typeface="Arial"/>
              <a:ea typeface="Arial"/>
              <a:cs typeface="Arial"/>
              <a:sym typeface="Arial"/>
            </a:endParaRPr>
          </a:p>
          <a:p>
            <a:pPr indent="-336550" lvl="0" marL="457200" rtl="0" algn="just">
              <a:spcBef>
                <a:spcPts val="0"/>
              </a:spcBef>
              <a:spcAft>
                <a:spcPts val="0"/>
              </a:spcAft>
              <a:buSzPts val="1700"/>
              <a:buFont typeface="Arial"/>
              <a:buChar char="●"/>
            </a:pPr>
            <a:r>
              <a:rPr lang="en" sz="1700">
                <a:latin typeface="Arial"/>
                <a:ea typeface="Arial"/>
                <a:cs typeface="Arial"/>
                <a:sym typeface="Arial"/>
              </a:rPr>
              <a:t>So sánh với kết quả của các nghiên cứu liên quan và các baseline.</a:t>
            </a:r>
            <a:endParaRPr sz="1700">
              <a:latin typeface="Arial"/>
              <a:ea typeface="Arial"/>
              <a:cs typeface="Arial"/>
              <a:sym typeface="Arial"/>
            </a:endParaRPr>
          </a:p>
          <a:p>
            <a:pPr indent="-336550" lvl="0" marL="457200" rtl="0" algn="just">
              <a:spcBef>
                <a:spcPts val="0"/>
              </a:spcBef>
              <a:spcAft>
                <a:spcPts val="0"/>
              </a:spcAft>
              <a:buSzPts val="1700"/>
              <a:buFont typeface="Arial"/>
              <a:buChar char="●"/>
            </a:pPr>
            <a:r>
              <a:rPr lang="en" sz="1700">
                <a:latin typeface="Arial"/>
                <a:ea typeface="Arial"/>
                <a:cs typeface="Arial"/>
                <a:sym typeface="Arial"/>
              </a:rPr>
              <a:t>A</a:t>
            </a:r>
            <a:r>
              <a:rPr lang="en" sz="1700">
                <a:latin typeface="Arial"/>
                <a:ea typeface="Arial"/>
                <a:cs typeface="Arial"/>
                <a:sym typeface="Arial"/>
              </a:rPr>
              <a:t>blation study để xác định đóng góp của các thành phần, đặc biệt là thành phần khía cạnh tr</a:t>
            </a:r>
            <a:r>
              <a:rPr lang="en" sz="1700">
                <a:latin typeface="Arial"/>
                <a:ea typeface="Arial"/>
                <a:cs typeface="Arial"/>
                <a:sym typeface="Arial"/>
              </a:rPr>
              <a:t>ong câu</a:t>
            </a:r>
            <a:r>
              <a:rPr lang="en" sz="1700">
                <a:latin typeface="Arial"/>
                <a:ea typeface="Arial"/>
                <a:cs typeface="Arial"/>
                <a:sym typeface="Arial"/>
              </a:rPr>
              <a:t>.</a:t>
            </a:r>
            <a:endParaRPr sz="1700">
              <a:latin typeface="Arial"/>
              <a:ea typeface="Arial"/>
              <a:cs typeface="Arial"/>
              <a:sym typeface="Arial"/>
            </a:endParaRPr>
          </a:p>
          <a:p>
            <a:pPr indent="0" lvl="0" marL="0" rtl="0" algn="just">
              <a:spcBef>
                <a:spcPts val="1200"/>
              </a:spcBef>
              <a:spcAft>
                <a:spcPts val="0"/>
              </a:spcAft>
              <a:buNone/>
            </a:pPr>
            <a:r>
              <a:rPr b="1" lang="en" sz="1700">
                <a:latin typeface="Arial"/>
                <a:ea typeface="Arial"/>
                <a:cs typeface="Arial"/>
                <a:sym typeface="Arial"/>
              </a:rPr>
              <a:t>Kết quả dự kiến:</a:t>
            </a:r>
            <a:r>
              <a:rPr lang="en" sz="1700">
                <a:latin typeface="Arial"/>
                <a:ea typeface="Arial"/>
                <a:cs typeface="Arial"/>
                <a:sym typeface="Arial"/>
              </a:rPr>
              <a:t> Bảng so sánh chi tiết hiệu năng mô hình</a:t>
            </a:r>
            <a:r>
              <a:rPr lang="en" sz="1700">
                <a:latin typeface="Arial"/>
                <a:ea typeface="Arial"/>
                <a:cs typeface="Arial"/>
                <a:sym typeface="Arial"/>
              </a:rPr>
              <a:t> dựa trên</a:t>
            </a:r>
            <a:r>
              <a:rPr lang="en" sz="1700">
                <a:latin typeface="Arial"/>
                <a:ea typeface="Arial"/>
                <a:cs typeface="Arial"/>
                <a:sym typeface="Arial"/>
              </a:rPr>
              <a:t> ablation study</a:t>
            </a:r>
            <a:r>
              <a:rPr lang="en" sz="1700">
                <a:latin typeface="Arial"/>
                <a:ea typeface="Arial"/>
                <a:cs typeface="Arial"/>
                <a:sym typeface="Arial"/>
              </a:rPr>
              <a:t>, cùng phân tích hướng mở rộng.</a:t>
            </a:r>
            <a:endParaRPr sz="1700">
              <a:latin typeface="Arial"/>
              <a:ea typeface="Arial"/>
              <a:cs typeface="Arial"/>
              <a:sym typeface="Arial"/>
            </a:endParaRPr>
          </a:p>
          <a:p>
            <a:pPr indent="0" lvl="0" marL="0" rtl="0" algn="just">
              <a:spcBef>
                <a:spcPts val="1200"/>
              </a:spcBef>
              <a:spcAft>
                <a:spcPts val="0"/>
              </a:spcAft>
              <a:buNone/>
            </a:pPr>
            <a:r>
              <a:rPr lang="en" sz="1700">
                <a:latin typeface="Arial"/>
                <a:ea typeface="Arial"/>
                <a:cs typeface="Arial"/>
                <a:sym typeface="Arial"/>
              </a:rPr>
              <a:t>Được kỳ vọng có thể ứng dụng vào thực tiễn như phát hiện đánh giá giả theo thời gian thực.</a:t>
            </a:r>
            <a:endParaRPr sz="1800">
              <a:latin typeface="Arial"/>
              <a:ea typeface="Arial"/>
              <a:cs typeface="Arial"/>
              <a:sym typeface="Arial"/>
            </a:endParaRPr>
          </a:p>
          <a:p>
            <a:pPr indent="0" lvl="0" marL="0" rtl="0" algn="just">
              <a:spcBef>
                <a:spcPts val="1200"/>
              </a:spcBef>
              <a:spcAft>
                <a:spcPts val="1200"/>
              </a:spcAft>
              <a:buNone/>
            </a:pPr>
            <a:r>
              <a:t/>
            </a:r>
            <a:endParaRPr sz="17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471900" y="0"/>
            <a:ext cx="8222100" cy="72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Tài liệu tham khảo</a:t>
            </a:r>
            <a:endParaRPr/>
          </a:p>
        </p:txBody>
      </p:sp>
      <p:sp>
        <p:nvSpPr>
          <p:cNvPr id="157" name="Google Shape;157;p22"/>
          <p:cNvSpPr txBox="1"/>
          <p:nvPr>
            <p:ph idx="1" type="body"/>
          </p:nvPr>
        </p:nvSpPr>
        <p:spPr>
          <a:xfrm>
            <a:off x="471900" y="820500"/>
            <a:ext cx="8222100" cy="3908400"/>
          </a:xfrm>
          <a:prstGeom prst="rect">
            <a:avLst/>
          </a:prstGeom>
        </p:spPr>
        <p:txBody>
          <a:bodyPr anchorCtr="0" anchor="t" bIns="91425" lIns="91425" spcFirstLastPara="1" rIns="91425" wrap="square" tIns="91425">
            <a:noAutofit/>
          </a:bodyPr>
          <a:lstStyle/>
          <a:p>
            <a:pPr indent="0" lvl="0" marL="457200" rtl="0" algn="just">
              <a:lnSpc>
                <a:spcPct val="100000"/>
              </a:lnSpc>
              <a:spcBef>
                <a:spcPts val="600"/>
              </a:spcBef>
              <a:spcAft>
                <a:spcPts val="0"/>
              </a:spcAft>
              <a:buNone/>
            </a:pPr>
            <a:r>
              <a:rPr lang="en" sz="1400">
                <a:latin typeface="Arial"/>
                <a:ea typeface="Arial"/>
                <a:cs typeface="Arial"/>
                <a:sym typeface="Arial"/>
              </a:rPr>
              <a:t>[1] Shebuti Rayana, Leman Akoglu: Collective Opinion Spam Detection: Bridging Review Networks and Metadata. KDD 2015: 985-994</a:t>
            </a:r>
            <a:endParaRPr sz="1400">
              <a:latin typeface="Arial"/>
              <a:ea typeface="Arial"/>
              <a:cs typeface="Arial"/>
              <a:sym typeface="Arial"/>
            </a:endParaRPr>
          </a:p>
          <a:p>
            <a:pPr indent="0" lvl="0" marL="457200" rtl="0" algn="just">
              <a:lnSpc>
                <a:spcPct val="100000"/>
              </a:lnSpc>
              <a:spcBef>
                <a:spcPts val="600"/>
              </a:spcBef>
              <a:spcAft>
                <a:spcPts val="0"/>
              </a:spcAft>
              <a:buNone/>
            </a:pPr>
            <a:r>
              <a:rPr lang="en" sz="1400">
                <a:latin typeface="Arial"/>
                <a:ea typeface="Arial"/>
                <a:cs typeface="Arial"/>
                <a:sym typeface="Arial"/>
              </a:rPr>
              <a:t>[2] Jacob Devlin, Ming-Wei Chang, Kenton Lee, Kristina Toutanova: BERT: Pre-training of Deep Bidirectional Transformers for Language Understanding. NAACL-HLT (1) 2019: 4171-4186</a:t>
            </a:r>
            <a:endParaRPr sz="1400">
              <a:latin typeface="Arial"/>
              <a:ea typeface="Arial"/>
              <a:cs typeface="Arial"/>
              <a:sym typeface="Arial"/>
            </a:endParaRPr>
          </a:p>
          <a:p>
            <a:pPr indent="0" lvl="0" marL="457200" rtl="0" algn="just">
              <a:lnSpc>
                <a:spcPct val="100000"/>
              </a:lnSpc>
              <a:spcBef>
                <a:spcPts val="600"/>
              </a:spcBef>
              <a:spcAft>
                <a:spcPts val="0"/>
              </a:spcAft>
              <a:buNone/>
            </a:pPr>
            <a:r>
              <a:rPr lang="en" sz="1400">
                <a:latin typeface="Arial"/>
                <a:ea typeface="Arial"/>
                <a:cs typeface="Arial"/>
                <a:sym typeface="Arial"/>
              </a:rPr>
              <a:t>[3] Ao Li, Zhou Qin, Runshi Liu, Yiqun Yang, Dong Li: Spam Review Detection with Graph Convolutional Networks. CIKM 2019: 2703-2711</a:t>
            </a:r>
            <a:endParaRPr sz="1400">
              <a:latin typeface="Arial"/>
              <a:ea typeface="Arial"/>
              <a:cs typeface="Arial"/>
              <a:sym typeface="Arial"/>
            </a:endParaRPr>
          </a:p>
          <a:p>
            <a:pPr indent="0" lvl="0" marL="457200" rtl="0" algn="just">
              <a:lnSpc>
                <a:spcPct val="100000"/>
              </a:lnSpc>
              <a:spcBef>
                <a:spcPts val="600"/>
              </a:spcBef>
              <a:spcAft>
                <a:spcPts val="0"/>
              </a:spcAft>
              <a:buNone/>
            </a:pPr>
            <a:r>
              <a:rPr lang="en" sz="1400">
                <a:latin typeface="Arial"/>
                <a:ea typeface="Arial"/>
                <a:cs typeface="Arial"/>
                <a:sym typeface="Arial"/>
              </a:rPr>
              <a:t>[4] Chi Sun, Luyao Huang, Xipeng Qiu: Utilizing BERT for Aspect-Based Sentiment Analysis via Constructing Auxiliary Sentence. NAACL-HLT (1) 2019: 380-385</a:t>
            </a:r>
            <a:endParaRPr sz="1400">
              <a:latin typeface="Arial"/>
              <a:ea typeface="Arial"/>
              <a:cs typeface="Arial"/>
              <a:sym typeface="Arial"/>
            </a:endParaRPr>
          </a:p>
          <a:p>
            <a:pPr indent="0" lvl="0" marL="457200" rtl="0" algn="just">
              <a:lnSpc>
                <a:spcPct val="100000"/>
              </a:lnSpc>
              <a:spcBef>
                <a:spcPts val="600"/>
              </a:spcBef>
              <a:spcAft>
                <a:spcPts val="0"/>
              </a:spcAft>
              <a:buNone/>
            </a:pPr>
            <a:r>
              <a:rPr lang="en" sz="1400">
                <a:latin typeface="Arial"/>
                <a:ea typeface="Arial"/>
                <a:cs typeface="Arial"/>
                <a:sym typeface="Arial"/>
              </a:rPr>
              <a:t>[5] Ziniu Hu, Yuxiao Dong, Kuansan Wang, Yizhou Sun: Heterogeneous Graph Transformer. WWW 2020: 2704-2710</a:t>
            </a:r>
            <a:endParaRPr sz="1400">
              <a:latin typeface="Arial"/>
              <a:ea typeface="Arial"/>
              <a:cs typeface="Arial"/>
              <a:sym typeface="Arial"/>
            </a:endParaRPr>
          </a:p>
          <a:p>
            <a:pPr indent="0" lvl="0" marL="457200" rtl="0" algn="just">
              <a:lnSpc>
                <a:spcPct val="100000"/>
              </a:lnSpc>
              <a:spcBef>
                <a:spcPts val="600"/>
              </a:spcBef>
              <a:spcAft>
                <a:spcPts val="0"/>
              </a:spcAft>
              <a:buNone/>
            </a:pPr>
            <a:r>
              <a:rPr lang="en" sz="1400">
                <a:latin typeface="Arial"/>
                <a:ea typeface="Arial"/>
                <a:cs typeface="Arial"/>
                <a:sym typeface="Arial"/>
              </a:rPr>
              <a:t>[6] </a:t>
            </a:r>
            <a:r>
              <a:rPr lang="en" sz="1350">
                <a:highlight>
                  <a:srgbClr val="FFFFFF"/>
                </a:highlight>
                <a:latin typeface="Arial"/>
                <a:ea typeface="Arial"/>
                <a:cs typeface="Arial"/>
                <a:sym typeface="Arial"/>
              </a:rPr>
              <a:t>Rami Mohawesh; Shuxiang Xu; Son N. Tran; Robert Ollington; Matthew Springer; Yaser Jararweh</a:t>
            </a:r>
            <a:r>
              <a:rPr lang="en" sz="1400">
                <a:latin typeface="Arial"/>
                <a:ea typeface="Arial"/>
                <a:cs typeface="Arial"/>
                <a:sym typeface="Arial"/>
              </a:rPr>
              <a:t>: Fake Reviews Detection: A Survey. IEEE Access, vol. 9, pp. 65771-65802, 2021</a:t>
            </a:r>
            <a:endParaRPr sz="1400">
              <a:latin typeface="Arial"/>
              <a:ea typeface="Arial"/>
              <a:cs typeface="Arial"/>
              <a:sym typeface="Arial"/>
            </a:endParaRPr>
          </a:p>
          <a:p>
            <a:pPr indent="0" lvl="0" marL="457200" rtl="0" algn="just">
              <a:lnSpc>
                <a:spcPct val="100000"/>
              </a:lnSpc>
              <a:spcBef>
                <a:spcPts val="600"/>
              </a:spcBef>
              <a:spcAft>
                <a:spcPts val="600"/>
              </a:spcAft>
              <a:buNone/>
            </a:pPr>
            <a:r>
              <a:rPr lang="en" sz="1400">
                <a:latin typeface="Arial"/>
                <a:ea typeface="Arial"/>
                <a:cs typeface="Arial"/>
                <a:sym typeface="Arial"/>
              </a:rPr>
              <a:t>[7] Heng Yang, Chen Zhang, Ke Li: PyABSA: A Modularized Framework for Reproducible Aspect-based Sentiment Analysis. CIKM 2023: 5117-5122</a:t>
            </a:r>
            <a:endParaRPr sz="1400">
              <a:solidFill>
                <a:srgbClr val="222222"/>
              </a:solidFill>
              <a:highlight>
                <a:srgbClr val="FFFFFF"/>
              </a:highlight>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 R01">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